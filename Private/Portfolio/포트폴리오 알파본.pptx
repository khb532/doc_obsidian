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5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5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05c275c49_0_1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g3e05c275c49_0_10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05c275c4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g3e05c275c49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05c275c49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e05c275c49_0_4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9bef6373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5" name="Google Shape;315;g3c9bef6373c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9bef6373c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c9bef6373c_0_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bf26a2a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g3bf26a2a92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131c8c2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g3e131c8c29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e131c8c29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e131c8c293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e2e4e30c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e2e4e30cf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8" name="Google Shape;50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" name="Google Shape;545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10" Type="http://schemas.openxmlformats.org/officeDocument/2006/relationships/image" Target="../media/image7.jpg"/><Relationship Id="rId9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10" Type="http://schemas.openxmlformats.org/officeDocument/2006/relationships/image" Target="../media/image29.png"/><Relationship Id="rId9" Type="http://schemas.openxmlformats.org/officeDocument/2006/relationships/image" Target="../media/image24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39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48.png"/><Relationship Id="rId5" Type="http://schemas.openxmlformats.org/officeDocument/2006/relationships/image" Target="../media/image3.png"/><Relationship Id="rId6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30.png"/><Relationship Id="rId6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45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54.png"/><Relationship Id="rId8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11" Type="http://schemas.openxmlformats.org/officeDocument/2006/relationships/image" Target="../media/image37.png"/><Relationship Id="rId10" Type="http://schemas.openxmlformats.org/officeDocument/2006/relationships/image" Target="../media/image43.png"/><Relationship Id="rId9" Type="http://schemas.openxmlformats.org/officeDocument/2006/relationships/image" Target="../media/image47.png"/><Relationship Id="rId5" Type="http://schemas.openxmlformats.org/officeDocument/2006/relationships/image" Target="../media/image30.png"/><Relationship Id="rId6" Type="http://schemas.openxmlformats.org/officeDocument/2006/relationships/image" Target="../media/image6.png"/><Relationship Id="rId7" Type="http://schemas.openxmlformats.org/officeDocument/2006/relationships/image" Target="../media/image51.png"/><Relationship Id="rId8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10" Type="http://schemas.openxmlformats.org/officeDocument/2006/relationships/image" Target="../media/image38.png"/><Relationship Id="rId9" Type="http://schemas.openxmlformats.org/officeDocument/2006/relationships/image" Target="../media/image66.png"/><Relationship Id="rId5" Type="http://schemas.openxmlformats.org/officeDocument/2006/relationships/image" Target="../media/image46.png"/><Relationship Id="rId6" Type="http://schemas.openxmlformats.org/officeDocument/2006/relationships/image" Target="../media/image5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60.png"/><Relationship Id="rId10" Type="http://schemas.openxmlformats.org/officeDocument/2006/relationships/image" Target="../media/image72.png"/><Relationship Id="rId13" Type="http://schemas.openxmlformats.org/officeDocument/2006/relationships/image" Target="../media/image88.png"/><Relationship Id="rId12" Type="http://schemas.openxmlformats.org/officeDocument/2006/relationships/image" Target="../media/image6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9" Type="http://schemas.openxmlformats.org/officeDocument/2006/relationships/image" Target="../media/image61.png"/><Relationship Id="rId15" Type="http://schemas.openxmlformats.org/officeDocument/2006/relationships/image" Target="../media/image67.png"/><Relationship Id="rId14" Type="http://schemas.openxmlformats.org/officeDocument/2006/relationships/image" Target="../media/image71.png"/><Relationship Id="rId16" Type="http://schemas.openxmlformats.org/officeDocument/2006/relationships/image" Target="../media/image63.png"/><Relationship Id="rId5" Type="http://schemas.openxmlformats.org/officeDocument/2006/relationships/image" Target="../media/image36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Relationship Id="rId8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5.png"/><Relationship Id="rId10" Type="http://schemas.openxmlformats.org/officeDocument/2006/relationships/image" Target="../media/image65.png"/><Relationship Id="rId13" Type="http://schemas.openxmlformats.org/officeDocument/2006/relationships/image" Target="../media/image77.png"/><Relationship Id="rId1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68.png"/><Relationship Id="rId5" Type="http://schemas.openxmlformats.org/officeDocument/2006/relationships/image" Target="../media/image46.png"/><Relationship Id="rId6" Type="http://schemas.openxmlformats.org/officeDocument/2006/relationships/image" Target="../media/image69.png"/><Relationship Id="rId7" Type="http://schemas.openxmlformats.org/officeDocument/2006/relationships/image" Target="../media/image55.png"/><Relationship Id="rId8" Type="http://schemas.openxmlformats.org/officeDocument/2006/relationships/image" Target="../media/image50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4.png"/><Relationship Id="rId10" Type="http://schemas.openxmlformats.org/officeDocument/2006/relationships/image" Target="../media/image50.png"/><Relationship Id="rId13" Type="http://schemas.openxmlformats.org/officeDocument/2006/relationships/image" Target="../media/image96.png"/><Relationship Id="rId12" Type="http://schemas.openxmlformats.org/officeDocument/2006/relationships/image" Target="../media/image8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91.png"/><Relationship Id="rId14" Type="http://schemas.openxmlformats.org/officeDocument/2006/relationships/image" Target="../media/image66.png"/><Relationship Id="rId5" Type="http://schemas.openxmlformats.org/officeDocument/2006/relationships/image" Target="../media/image46.png"/><Relationship Id="rId6" Type="http://schemas.openxmlformats.org/officeDocument/2006/relationships/image" Target="../media/image82.png"/><Relationship Id="rId7" Type="http://schemas.openxmlformats.org/officeDocument/2006/relationships/image" Target="../media/image78.png"/><Relationship Id="rId8" Type="http://schemas.openxmlformats.org/officeDocument/2006/relationships/image" Target="../media/image80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02.png"/><Relationship Id="rId11" Type="http://schemas.openxmlformats.org/officeDocument/2006/relationships/image" Target="../media/image85.png"/><Relationship Id="rId10" Type="http://schemas.openxmlformats.org/officeDocument/2006/relationships/image" Target="../media/image90.png"/><Relationship Id="rId13" Type="http://schemas.openxmlformats.org/officeDocument/2006/relationships/image" Target="../media/image121.png"/><Relationship Id="rId12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95.png"/><Relationship Id="rId15" Type="http://schemas.openxmlformats.org/officeDocument/2006/relationships/image" Target="../media/image97.png"/><Relationship Id="rId14" Type="http://schemas.openxmlformats.org/officeDocument/2006/relationships/image" Target="../media/image92.png"/><Relationship Id="rId17" Type="http://schemas.openxmlformats.org/officeDocument/2006/relationships/image" Target="../media/image99.png"/><Relationship Id="rId16" Type="http://schemas.openxmlformats.org/officeDocument/2006/relationships/image" Target="../media/image98.png"/><Relationship Id="rId5" Type="http://schemas.openxmlformats.org/officeDocument/2006/relationships/image" Target="../media/image46.png"/><Relationship Id="rId19" Type="http://schemas.openxmlformats.org/officeDocument/2006/relationships/image" Target="../media/image100.png"/><Relationship Id="rId6" Type="http://schemas.openxmlformats.org/officeDocument/2006/relationships/image" Target="../media/image50.png"/><Relationship Id="rId18" Type="http://schemas.openxmlformats.org/officeDocument/2006/relationships/image" Target="../media/image103.png"/><Relationship Id="rId7" Type="http://schemas.openxmlformats.org/officeDocument/2006/relationships/image" Target="../media/image93.png"/><Relationship Id="rId8" Type="http://schemas.openxmlformats.org/officeDocument/2006/relationships/image" Target="../media/image89.png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3.png"/><Relationship Id="rId10" Type="http://schemas.openxmlformats.org/officeDocument/2006/relationships/image" Target="../media/image108.png"/><Relationship Id="rId13" Type="http://schemas.openxmlformats.org/officeDocument/2006/relationships/image" Target="../media/image115.png"/><Relationship Id="rId1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106.png"/><Relationship Id="rId5" Type="http://schemas.openxmlformats.org/officeDocument/2006/relationships/image" Target="../media/image46.png"/><Relationship Id="rId6" Type="http://schemas.openxmlformats.org/officeDocument/2006/relationships/image" Target="../media/image50.png"/><Relationship Id="rId7" Type="http://schemas.openxmlformats.org/officeDocument/2006/relationships/image" Target="../media/image118.png"/><Relationship Id="rId8" Type="http://schemas.openxmlformats.org/officeDocument/2006/relationships/image" Target="../media/image68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9.png"/><Relationship Id="rId10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3.png"/><Relationship Id="rId4" Type="http://schemas.openxmlformats.org/officeDocument/2006/relationships/image" Target="../media/image36.png"/><Relationship Id="rId9" Type="http://schemas.openxmlformats.org/officeDocument/2006/relationships/image" Target="../media/image116.png"/><Relationship Id="rId5" Type="http://schemas.openxmlformats.org/officeDocument/2006/relationships/image" Target="../media/image50.png"/><Relationship Id="rId6" Type="http://schemas.openxmlformats.org/officeDocument/2006/relationships/image" Target="../media/image46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7.png"/><Relationship Id="rId4" Type="http://schemas.openxmlformats.org/officeDocument/2006/relationships/image" Target="../media/image36.png"/><Relationship Id="rId5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86360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17500" y="2641600"/>
            <a:ext cx="17653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B7B7B7"/>
                </a:solidFill>
                <a:latin typeface="Arial"/>
                <a:ea typeface="Arial"/>
                <a:cs typeface="Arial"/>
                <a:sym typeface="Arial"/>
              </a:rPr>
              <a:t>Programmer</a:t>
            </a:r>
            <a:endParaRPr b="0" i="0" sz="20000" u="none" cap="none" strike="noStrike">
              <a:solidFill>
                <a:srgbClr val="B7B7B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03200" y="5130800"/>
            <a:ext cx="18681700" cy="5321300"/>
          </a:xfrm>
          <a:prstGeom prst="rect">
            <a:avLst/>
          </a:prstGeom>
          <a:noFill/>
          <a:ln>
            <a:noFill/>
          </a:ln>
          <a:effectLst>
            <a:outerShdw blurRad="352096">
              <a:srgbClr val="000000">
                <a:alpha val="14901"/>
              </a:srgbClr>
            </a:outerShdw>
          </a:effectLst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0700" y="9296400"/>
            <a:ext cx="12166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010-4768-5892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kimhb532@gmail.com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한줄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소개를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입력해주세요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0" i="0" lang="en-US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Kim HongBeom</a:t>
            </a:r>
            <a:endParaRPr b="0" i="0" sz="9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Portfolio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32000"/>
            <a:ext cx="18681700" cy="8432800"/>
          </a:xfrm>
          <a:prstGeom prst="rect">
            <a:avLst/>
          </a:prstGeom>
          <a:noFill/>
          <a:ln>
            <a:noFill/>
          </a:ln>
          <a:effectLst>
            <a:outerShdw blurRad="884403">
              <a:srgbClr val="000000">
                <a:alpha val="14901"/>
              </a:srgbClr>
            </a:outerShdw>
          </a:effectLst>
        </p:spPr>
      </p:pic>
      <p:pic>
        <p:nvPicPr>
          <p:cNvPr id="103" name="Google Shape;10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46355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72263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24765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800" y="8267700"/>
            <a:ext cx="2235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800" y="7594600"/>
            <a:ext cx="1092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22000" y="8267700"/>
            <a:ext cx="1270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922000" y="7594600"/>
            <a:ext cx="10922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0922000" y="8356600"/>
            <a:ext cx="1270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ComfyUI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255000" y="8356600"/>
            <a:ext cx="1879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StableDiffusion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0922000" y="7670800"/>
            <a:ext cx="1079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8064500" y="7670800"/>
            <a:ext cx="1079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C/C++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5092700" y="74295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Skill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10922000" y="49403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051800" y="49403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신입</a:t>
            </a:r>
            <a:endParaRPr sz="1900"/>
          </a:p>
          <a:p>
            <a:pPr indent="0" lvl="0" marL="45720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9" name="Google Shape;119;p14"/>
          <p:cNvSpPr txBox="1"/>
          <p:nvPr/>
        </p:nvSpPr>
        <p:spPr>
          <a:xfrm>
            <a:off x="5092700" y="48768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경력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Experience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10922000" y="32004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>
                <a:latin typeface="Calibri"/>
                <a:ea typeface="Calibri"/>
                <a:cs typeface="Calibri"/>
                <a:sym typeface="Calibri"/>
              </a:rPr>
              <a:t>Wanted Unreal&amp;AI 얼라인 부트캠프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8051800" y="31877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US" sz="1900"/>
              <a:t>2025.07 - 2026.01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10922000" y="26924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제주대학교 컴퓨터 공학과 (4년중퇴)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051800" y="26924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2014.02 - 2023.09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5092700" y="26162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학력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Education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76300" y="8547100"/>
            <a:ext cx="3657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010-4768-5892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kimhb532@gmail.com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508000" y="8547100"/>
            <a:ext cx="40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508000" y="79629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1995.10.13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508000" y="7442200"/>
            <a:ext cx="36703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김홍범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Kim Hong Beom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2801600" y="876300"/>
            <a:ext cx="4610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Kim HongBeom Portfolio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762000" y="673100"/>
            <a:ext cx="10248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이력사항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7191" y="2781300"/>
            <a:ext cx="3956208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 txBox="1"/>
          <p:nvPr/>
        </p:nvSpPr>
        <p:spPr>
          <a:xfrm>
            <a:off x="3111500" y="203200"/>
            <a:ext cx="12052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32000"/>
            <a:ext cx="18681700" cy="8432800"/>
          </a:xfrm>
          <a:prstGeom prst="rect">
            <a:avLst/>
          </a:prstGeom>
          <a:noFill/>
          <a:ln>
            <a:noFill/>
          </a:ln>
          <a:effectLst>
            <a:outerShdw blurRad="884403">
              <a:srgbClr val="000000">
                <a:alpha val="14901"/>
              </a:srgbClr>
            </a:outerShdw>
          </a:effectLst>
        </p:spPr>
      </p:pic>
      <p:pic>
        <p:nvPicPr>
          <p:cNvPr id="138" name="Google Shape;13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38481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53340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68072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82804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28321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700000">
            <a:off x="9029700" y="30099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43180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44831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57912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59563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72771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74422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87503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8915400"/>
            <a:ext cx="241300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10096500" y="88519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2654300" y="87376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프로젝트명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536700" y="88011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10096500" y="73660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2654300" y="7251700"/>
            <a:ext cx="4559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프로젝트명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1536700" y="73279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0096500" y="58928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AI기반 Online 면접 플랫폼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2654300" y="57785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AI&amp;UE Co-Project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536700" y="58420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10096500" y="44196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멀티플레이 구현 목표 프로젝트. 햄버거 제작 시뮬레이션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2654300" y="43053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1536700" y="43688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10096500" y="29337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탄도학 중심으로 모던워페어3 에펠탑 미션 연출하기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/>
        </p:nvSpPr>
        <p:spPr>
          <a:xfrm>
            <a:off x="2654300" y="28194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물리역학기반 프로젝트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CoD:MW3 모작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1536700" y="28956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2667000" y="43053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Multiplay 프로젝트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MHGA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3833050" y="75565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물리기반 </a:t>
            </a:r>
            <a:r>
              <a:rPr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FPS : MW3 모작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16"/>
          <p:cNvGrpSpPr/>
          <p:nvPr/>
        </p:nvGrpSpPr>
        <p:grpSpPr>
          <a:xfrm>
            <a:off x="5073427" y="8899450"/>
            <a:ext cx="8128450" cy="711200"/>
            <a:chOff x="6547036" y="8002425"/>
            <a:chExt cx="2986424" cy="711200"/>
          </a:xfrm>
        </p:grpSpPr>
        <p:pic>
          <p:nvPicPr>
            <p:cNvPr id="180" name="Google Shape;18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547036" y="8002425"/>
              <a:ext cx="2986424" cy="711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6"/>
            <p:cNvSpPr txBox="1"/>
            <p:nvPr/>
          </p:nvSpPr>
          <p:spPr>
            <a:xfrm>
              <a:off x="7529813" y="8135725"/>
              <a:ext cx="17139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9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4000">
                  <a:latin typeface="Calibri"/>
                  <a:ea typeface="Calibri"/>
                  <a:cs typeface="Calibri"/>
                  <a:sym typeface="Calibri"/>
                </a:rPr>
                <a:t>Ballistics System </a:t>
              </a:r>
              <a:endParaRPr b="0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16"/>
          <p:cNvSpPr txBox="1"/>
          <p:nvPr/>
        </p:nvSpPr>
        <p:spPr>
          <a:xfrm>
            <a:off x="7734500" y="2096950"/>
            <a:ext cx="10034100" cy="22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오일러 속도 적분 방식 기반의 발사체 컴포넌트 구현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기획 추가&amp;수정에 대응하기 용이하도록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공통기능분에 대해 상속구조&amp;분할과 Virtual 구성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3" name="Google Shape;183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150" y="2096949"/>
            <a:ext cx="6888900" cy="3308575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184" name="Google Shape;184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6150" y="5489025"/>
            <a:ext cx="5174520" cy="22971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sp>
        <p:nvSpPr>
          <p:cNvPr id="185" name="Google Shape;185;p16"/>
          <p:cNvSpPr txBox="1"/>
          <p:nvPr/>
        </p:nvSpPr>
        <p:spPr>
          <a:xfrm>
            <a:off x="586150" y="8075700"/>
            <a:ext cx="14467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88888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ComputeAcceleration()을 virtual로 분리 → 새 탄종 추가 시 Base 수정 없음  (OCP 준수)</a:t>
            </a:r>
            <a:endParaRPr sz="500">
              <a:solidFill>
                <a:srgbClr val="888888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86" name="Google Shape;186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241650" y="4471975"/>
            <a:ext cx="54483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/>
        </p:nvSpPr>
        <p:spPr>
          <a:xfrm>
            <a:off x="9271675" y="7104950"/>
            <a:ext cx="7140300" cy="1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질량, 단면적, 공기밀도 등의 물리식 적용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3833051" y="755650"/>
            <a:ext cx="7632600" cy="622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물리기반 FPS : MW3 모작</a:t>
            </a:r>
            <a:endParaRPr sz="3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sz="4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17"/>
          <p:cNvGrpSpPr/>
          <p:nvPr/>
        </p:nvGrpSpPr>
        <p:grpSpPr>
          <a:xfrm>
            <a:off x="958850" y="2233450"/>
            <a:ext cx="8001000" cy="2857500"/>
            <a:chOff x="952500" y="1905000"/>
            <a:chExt cx="8001000" cy="2857500"/>
          </a:xfrm>
        </p:grpSpPr>
        <p:sp>
          <p:nvSpPr>
            <p:cNvPr id="199" name="Google Shape;199;p17"/>
            <p:cNvSpPr/>
            <p:nvPr/>
          </p:nvSpPr>
          <p:spPr>
            <a:xfrm>
              <a:off x="952500" y="1905000"/>
              <a:ext cx="8001000" cy="2857500"/>
            </a:xfrm>
            <a:prstGeom prst="roundRect">
              <a:avLst>
                <a:gd fmla="val 500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1238250" y="2190750"/>
              <a:ext cx="7429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발사체 컴포넌트 구현</a:t>
              </a:r>
              <a:endParaRPr b="1" sz="2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오일러 속도 적분 방식 기반</a:t>
              </a:r>
              <a:endParaRPr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상속 구조 및 분할을 통한 기획 대응력 강화</a:t>
              </a:r>
              <a:endParaRPr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• Virtual 구성을 통한 확장성 확보</a:t>
              </a:r>
              <a:endParaRPr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17"/>
          <p:cNvGrpSpPr/>
          <p:nvPr/>
        </p:nvGrpSpPr>
        <p:grpSpPr>
          <a:xfrm>
            <a:off x="9340850" y="2233450"/>
            <a:ext cx="8001000" cy="2857500"/>
            <a:chOff x="9334500" y="1905000"/>
            <a:chExt cx="8001000" cy="2857500"/>
          </a:xfrm>
        </p:grpSpPr>
        <p:sp>
          <p:nvSpPr>
            <p:cNvPr id="202" name="Google Shape;202;p17"/>
            <p:cNvSpPr/>
            <p:nvPr/>
          </p:nvSpPr>
          <p:spPr>
            <a:xfrm>
              <a:off x="9334500" y="1905000"/>
              <a:ext cx="8001000" cy="2857500"/>
            </a:xfrm>
            <a:prstGeom prst="roundRect">
              <a:avLst>
                <a:gd fmla="val 5000" name="adj"/>
              </a:avLst>
            </a:prstGeom>
            <a:solidFill>
              <a:srgbClr val="F1F5F9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9620250" y="2190750"/>
              <a:ext cx="3810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물리식 적용</a:t>
              </a:r>
              <a:endParaRPr b="1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질량, 단면적, 공기밀도 등</a:t>
              </a:r>
              <a:endParaRPr sz="16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04" name="Google Shape;204;p17"/>
            <p:cNvPicPr preferRelativeResize="0"/>
            <p:nvPr/>
          </p:nvPicPr>
          <p:blipFill rotWithShape="1">
            <a:blip r:embed="rId6">
              <a:alphaModFix/>
            </a:blip>
            <a:srcRect b="0" l="6649" r="6658" t="0"/>
            <a:stretch/>
          </p:blipFill>
          <p:spPr>
            <a:xfrm>
              <a:off x="13525500" y="2381250"/>
              <a:ext cx="3619500" cy="1905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5" name="Google Shape;205;p17"/>
          <p:cNvGrpSpPr/>
          <p:nvPr/>
        </p:nvGrpSpPr>
        <p:grpSpPr>
          <a:xfrm>
            <a:off x="958850" y="5252975"/>
            <a:ext cx="16383000" cy="1905000"/>
            <a:chOff x="952500" y="5143500"/>
            <a:chExt cx="16383000" cy="1905000"/>
          </a:xfrm>
        </p:grpSpPr>
        <p:sp>
          <p:nvSpPr>
            <p:cNvPr id="206" name="Google Shape;206;p17"/>
            <p:cNvSpPr/>
            <p:nvPr/>
          </p:nvSpPr>
          <p:spPr>
            <a:xfrm>
              <a:off x="952500" y="5143500"/>
              <a:ext cx="16383000" cy="1905000"/>
            </a:xfrm>
            <a:prstGeom prst="roundRect">
              <a:avLst>
                <a:gd fmla="val 7500" name="adj"/>
              </a:avLst>
            </a:prstGeom>
            <a:solidFill>
              <a:srgbClr val="EEF2FF"/>
            </a:solidFill>
            <a:ln cap="flat" cmpd="sng" w="19050">
              <a:solidFill>
                <a:srgbClr val="C7D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 txBox="1"/>
            <p:nvPr/>
          </p:nvSpPr>
          <p:spPr>
            <a:xfrm>
              <a:off x="1238250" y="5429250"/>
              <a:ext cx="15811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4338CA"/>
                  </a:solidFill>
                  <a:latin typeface="Calibri"/>
                  <a:ea typeface="Calibri"/>
                  <a:cs typeface="Calibri"/>
                  <a:sym typeface="Calibri"/>
                </a:rPr>
                <a:t>객체 지향 설계 (OCP 준수)</a:t>
              </a:r>
              <a:endParaRPr b="1" sz="2000">
                <a:solidFill>
                  <a:srgbClr val="4338C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366F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ComputeAcceleration()을 virtual로 분리하여 새 탄종 추가 시 Base 수정 불필요</a:t>
              </a:r>
              <a:endParaRPr sz="1600">
                <a:solidFill>
                  <a:srgbClr val="6366F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366F1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기획 확장으로 여러 탄종 추가 대응 가능</a:t>
              </a:r>
              <a:endParaRPr sz="1600">
                <a:solidFill>
                  <a:srgbClr val="6366F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208" name="Google Shape;208;p17"/>
          <p:cNvGrpSpPr/>
          <p:nvPr/>
        </p:nvGrpSpPr>
        <p:grpSpPr>
          <a:xfrm>
            <a:off x="7626350" y="9779125"/>
            <a:ext cx="3048000" cy="476400"/>
            <a:chOff x="7620000" y="9715500"/>
            <a:chExt cx="3048000" cy="476400"/>
          </a:xfrm>
        </p:grpSpPr>
        <p:sp>
          <p:nvSpPr>
            <p:cNvPr id="209" name="Google Shape;209;p17"/>
            <p:cNvSpPr/>
            <p:nvPr/>
          </p:nvSpPr>
          <p:spPr>
            <a:xfrm>
              <a:off x="7620000" y="9715500"/>
              <a:ext cx="3048000" cy="476400"/>
            </a:xfrm>
            <a:prstGeom prst="roundRect">
              <a:avLst>
                <a:gd fmla="val 500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 txBox="1"/>
            <p:nvPr/>
          </p:nvSpPr>
          <p:spPr>
            <a:xfrm>
              <a:off x="7620000" y="9715500"/>
              <a:ext cx="3048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Ballistics System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1" name="Google Shape;21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40850" y="7320000"/>
            <a:ext cx="5174520" cy="22971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212" name="Google Shape;212;p17"/>
          <p:cNvPicPr preferRelativeResize="0"/>
          <p:nvPr/>
        </p:nvPicPr>
        <p:blipFill rotWithShape="1">
          <a:blip r:embed="rId8">
            <a:alphaModFix/>
          </a:blip>
          <a:srcRect b="40965" l="0" r="0" t="0"/>
          <a:stretch/>
        </p:blipFill>
        <p:spPr>
          <a:xfrm>
            <a:off x="928013" y="7436050"/>
            <a:ext cx="8062679" cy="2286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 txBox="1"/>
          <p:nvPr/>
        </p:nvSpPr>
        <p:spPr>
          <a:xfrm>
            <a:off x="3833050" y="75565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물리기반 </a:t>
            </a:r>
            <a:r>
              <a:rPr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FPS : MW3 모작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4" name="Google Shape;224;p18"/>
          <p:cNvGrpSpPr/>
          <p:nvPr/>
        </p:nvGrpSpPr>
        <p:grpSpPr>
          <a:xfrm>
            <a:off x="482600" y="2277327"/>
            <a:ext cx="5334000" cy="3470529"/>
            <a:chOff x="476250" y="1714497"/>
            <a:chExt cx="5334000" cy="3810000"/>
          </a:xfrm>
        </p:grpSpPr>
        <p:sp>
          <p:nvSpPr>
            <p:cNvPr id="225" name="Google Shape;225;p18"/>
            <p:cNvSpPr/>
            <p:nvPr/>
          </p:nvSpPr>
          <p:spPr>
            <a:xfrm>
              <a:off x="476250" y="1714497"/>
              <a:ext cx="5334000" cy="3810000"/>
            </a:xfrm>
            <a:prstGeom prst="roundRect">
              <a:avLst>
                <a:gd fmla="val 375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6" name="Google Shape;226;p18"/>
            <p:cNvPicPr preferRelativeResize="0"/>
            <p:nvPr/>
          </p:nvPicPr>
          <p:blipFill rotWithShape="1">
            <a:blip r:embed="rId7">
              <a:alphaModFix/>
            </a:blip>
            <a:srcRect b="1134" l="0" r="0" t="1143"/>
            <a:stretch/>
          </p:blipFill>
          <p:spPr>
            <a:xfrm>
              <a:off x="666750" y="1905000"/>
              <a:ext cx="4953000" cy="2667000"/>
            </a:xfrm>
            <a:prstGeom prst="roundRect">
              <a:avLst>
                <a:gd fmla="val 2857" name="adj"/>
              </a:avLst>
            </a:prstGeom>
            <a:noFill/>
            <a:ln>
              <a:noFill/>
            </a:ln>
          </p:spPr>
        </p:pic>
        <p:sp>
          <p:nvSpPr>
            <p:cNvPr id="227" name="Google Shape;227;p18"/>
            <p:cNvSpPr txBox="1"/>
            <p:nvPr/>
          </p:nvSpPr>
          <p:spPr>
            <a:xfrm>
              <a:off x="666750" y="4667247"/>
              <a:ext cx="4953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포물선 : Rifle, 고각발사</a:t>
              </a:r>
              <a:endParaRPr b="0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8" name="Google Shape;228;p18"/>
          <p:cNvGrpSpPr/>
          <p:nvPr/>
        </p:nvGrpSpPr>
        <p:grpSpPr>
          <a:xfrm>
            <a:off x="476250" y="6008930"/>
            <a:ext cx="5334000" cy="3516249"/>
            <a:chOff x="476250" y="5715000"/>
            <a:chExt cx="5334000" cy="3810000"/>
          </a:xfrm>
        </p:grpSpPr>
        <p:sp>
          <p:nvSpPr>
            <p:cNvPr id="229" name="Google Shape;229;p18"/>
            <p:cNvSpPr/>
            <p:nvPr/>
          </p:nvSpPr>
          <p:spPr>
            <a:xfrm>
              <a:off x="476250" y="5715000"/>
              <a:ext cx="5334000" cy="3810000"/>
            </a:xfrm>
            <a:prstGeom prst="roundRect">
              <a:avLst>
                <a:gd fmla="val 3750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0" name="Google Shape;230;p18"/>
            <p:cNvPicPr preferRelativeResize="0"/>
            <p:nvPr/>
          </p:nvPicPr>
          <p:blipFill rotWithShape="1">
            <a:blip r:embed="rId8">
              <a:alphaModFix/>
            </a:blip>
            <a:srcRect b="0" l="1997" r="1997" t="0"/>
            <a:stretch/>
          </p:blipFill>
          <p:spPr>
            <a:xfrm>
              <a:off x="666750" y="5905500"/>
              <a:ext cx="4953000" cy="2667000"/>
            </a:xfrm>
            <a:prstGeom prst="roundRect">
              <a:avLst>
                <a:gd fmla="val 2857" name="adj"/>
              </a:avLst>
            </a:prstGeom>
            <a:noFill/>
            <a:ln>
              <a:noFill/>
            </a:ln>
          </p:spPr>
        </p:pic>
        <p:sp>
          <p:nvSpPr>
            <p:cNvPr id="231" name="Google Shape;231;p18"/>
            <p:cNvSpPr txBox="1"/>
            <p:nvPr/>
          </p:nvSpPr>
          <p:spPr>
            <a:xfrm>
              <a:off x="666750" y="8667750"/>
              <a:ext cx="49530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로켓 : Javelin, 소프트런치</a:t>
              </a:r>
              <a:endParaRPr b="0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18"/>
          <p:cNvGrpSpPr/>
          <p:nvPr/>
        </p:nvGrpSpPr>
        <p:grpSpPr>
          <a:xfrm>
            <a:off x="6096000" y="5238750"/>
            <a:ext cx="11715900" cy="4286400"/>
            <a:chOff x="6096000" y="5238750"/>
            <a:chExt cx="11715900" cy="4286400"/>
          </a:xfrm>
        </p:grpSpPr>
        <p:sp>
          <p:nvSpPr>
            <p:cNvPr id="233" name="Google Shape;233;p18"/>
            <p:cNvSpPr/>
            <p:nvPr/>
          </p:nvSpPr>
          <p:spPr>
            <a:xfrm>
              <a:off x="6096000" y="5238750"/>
              <a:ext cx="11715900" cy="42864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 txBox="1"/>
            <p:nvPr/>
          </p:nvSpPr>
          <p:spPr>
            <a:xfrm>
              <a:off x="6381750" y="5524500"/>
              <a:ext cx="11144400" cy="1143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D97706"/>
                  </a:solidFill>
                  <a:latin typeface="Calibri"/>
                  <a:ea typeface="Calibri"/>
                  <a:cs typeface="Calibri"/>
                  <a:sym typeface="Calibri"/>
                </a:rPr>
                <a:t>오브젝트 진행 + 회전 동기화 최적화</a:t>
              </a:r>
              <a:endParaRPr b="1" sz="260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짐벌락(Gimbal Lock) 문제 해결을 위한 쿼터니언 회전 적용</a:t>
              </a:r>
              <a:endParaRPr b="0" sz="18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5" name="Google Shape;235;p18"/>
            <p:cNvPicPr preferRelativeResize="0"/>
            <p:nvPr/>
          </p:nvPicPr>
          <p:blipFill rotWithShape="1">
            <a:blip r:embed="rId9">
              <a:alphaModFix/>
            </a:blip>
            <a:srcRect b="12547" l="0" r="0" t="12547"/>
            <a:stretch/>
          </p:blipFill>
          <p:spPr>
            <a:xfrm>
              <a:off x="6381750" y="6858000"/>
              <a:ext cx="11144400" cy="2381400"/>
            </a:xfrm>
            <a:prstGeom prst="roundRect">
              <a:avLst>
                <a:gd fmla="val 3200" name="adj"/>
              </a:avLst>
            </a:prstGeom>
            <a:noFill/>
            <a:ln>
              <a:noFill/>
            </a:ln>
          </p:spPr>
        </p:pic>
      </p:grpSp>
      <p:grpSp>
        <p:nvGrpSpPr>
          <p:cNvPr id="236" name="Google Shape;236;p18"/>
          <p:cNvGrpSpPr/>
          <p:nvPr/>
        </p:nvGrpSpPr>
        <p:grpSpPr>
          <a:xfrm>
            <a:off x="6096000" y="2222456"/>
            <a:ext cx="11715900" cy="2825814"/>
            <a:chOff x="6096000" y="1714500"/>
            <a:chExt cx="11715900" cy="3333900"/>
          </a:xfrm>
        </p:grpSpPr>
        <p:sp>
          <p:nvSpPr>
            <p:cNvPr id="237" name="Google Shape;237;p18"/>
            <p:cNvSpPr/>
            <p:nvPr/>
          </p:nvSpPr>
          <p:spPr>
            <a:xfrm>
              <a:off x="6096000" y="1714500"/>
              <a:ext cx="11715900" cy="3333900"/>
            </a:xfrm>
            <a:prstGeom prst="roundRect">
              <a:avLst>
                <a:gd fmla="val 4285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 txBox="1"/>
            <p:nvPr/>
          </p:nvSpPr>
          <p:spPr>
            <a:xfrm>
              <a:off x="6381750" y="2000250"/>
              <a:ext cx="11144400" cy="2762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6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중력과 공기저항에 따른 감속 및 낙하 구간</a:t>
              </a:r>
              <a:endParaRPr b="1" sz="26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단순한 좌표 이동이 아닌 물리효과 계산 &amp; 적용 결과로</a:t>
              </a:r>
              <a:endParaRPr b="0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단면적에 따른 공기역학, 급감속 연출 및 예상 종단속도의 계산 검증 완료</a:t>
              </a:r>
              <a:endParaRPr b="0" sz="20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lang="en-US" sz="20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(최고 20,000 기준, 종단 ≒ 8400)</a:t>
              </a:r>
              <a:endParaRPr b="0" sz="2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sp>
        <p:nvSpPr>
          <p:cNvPr id="244" name="Google Shape;244;p19"/>
          <p:cNvSpPr/>
          <p:nvPr/>
        </p:nvSpPr>
        <p:spPr>
          <a:xfrm>
            <a:off x="476250" y="2491825"/>
            <a:ext cx="173355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Phase-Driven Event Architecture</a:t>
            </a:r>
            <a:endParaRPr b="1" sz="24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p19"/>
          <p:cNvGrpSpPr/>
          <p:nvPr/>
        </p:nvGrpSpPr>
        <p:grpSpPr>
          <a:xfrm>
            <a:off x="2149400" y="3416300"/>
            <a:ext cx="14001900" cy="1714500"/>
            <a:chOff x="952500" y="2476500"/>
            <a:chExt cx="14001900" cy="1714500"/>
          </a:xfrm>
        </p:grpSpPr>
        <p:sp>
          <p:nvSpPr>
            <p:cNvPr id="246" name="Google Shape;246;p19"/>
            <p:cNvSpPr/>
            <p:nvPr/>
          </p:nvSpPr>
          <p:spPr>
            <a:xfrm>
              <a:off x="952500" y="2476500"/>
              <a:ext cx="3143400" cy="17145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FBBF2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 txBox="1"/>
            <p:nvPr/>
          </p:nvSpPr>
          <p:spPr>
            <a:xfrm>
              <a:off x="952500" y="2476500"/>
              <a:ext cx="3143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97706"/>
                  </a:solidFill>
                  <a:latin typeface="Consolas"/>
                  <a:ea typeface="Consolas"/>
                  <a:cs typeface="Consolas"/>
                  <a:sym typeface="Consolas"/>
                </a:rPr>
                <a:t>PhaseTrigger</a:t>
              </a:r>
              <a:endParaRPr b="1" sz="1800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BoxComponent 오버랩 감지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페이즈 전환 발동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4286250" y="309562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9"/>
            <p:cNvSpPr txBox="1"/>
            <p:nvPr/>
          </p:nvSpPr>
          <p:spPr>
            <a:xfrm>
              <a:off x="4143375" y="314325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endParaRPr sz="2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9"/>
            <p:cNvSpPr/>
            <p:nvPr/>
          </p:nvSpPr>
          <p:spPr>
            <a:xfrm>
              <a:off x="4572000" y="2476500"/>
              <a:ext cx="3143400" cy="17145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4572000" y="2476500"/>
              <a:ext cx="3143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6A34A"/>
                  </a:solidFill>
                  <a:latin typeface="Consolas"/>
                  <a:ea typeface="Consolas"/>
                  <a:cs typeface="Consolas"/>
                  <a:sym typeface="Consolas"/>
                </a:rPr>
                <a:t>StoryManager</a:t>
              </a:r>
              <a:endParaRPr b="1" sz="1800">
                <a:solidFill>
                  <a:srgbClr val="16A34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페이즈 상태 관리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컨트롤러 등록·명령 전파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8286750" y="309562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7762875" y="314325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endParaRPr sz="2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8191500" y="2476500"/>
              <a:ext cx="3143400" cy="17145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38BDF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8191500" y="2476500"/>
              <a:ext cx="3143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284C7"/>
                  </a:solidFill>
                  <a:latin typeface="Consolas"/>
                  <a:ea typeface="Consolas"/>
                  <a:cs typeface="Consolas"/>
                  <a:sym typeface="Consolas"/>
                </a:rPr>
                <a:t>AllyAIController</a:t>
              </a:r>
              <a:endParaRPr b="1" sz="1800">
                <a:solidFill>
                  <a:srgbClr val="0284C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명령 수신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NavMesh 이동 처리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12287250" y="3095625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 txBox="1"/>
            <p:nvPr/>
          </p:nvSpPr>
          <p:spPr>
            <a:xfrm>
              <a:off x="11382375" y="3143250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→</a:t>
              </a:r>
              <a:endParaRPr sz="2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9"/>
            <p:cNvSpPr/>
            <p:nvPr/>
          </p:nvSpPr>
          <p:spPr>
            <a:xfrm>
              <a:off x="11811000" y="2476500"/>
              <a:ext cx="3143400" cy="1714500"/>
            </a:xfrm>
            <a:prstGeom prst="roundRect">
              <a:avLst>
                <a:gd fmla="val 8333" name="adj"/>
              </a:avLst>
            </a:prstGeom>
            <a:solidFill>
              <a:srgbClr val="F8FAFC"/>
            </a:solidFill>
            <a:ln cap="flat" cmpd="sng" w="19050">
              <a:solidFill>
                <a:srgbClr val="A78BF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11811000" y="2476500"/>
              <a:ext cx="3143400" cy="1714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7C3AED"/>
                  </a:solidFill>
                  <a:latin typeface="Consolas"/>
                  <a:ea typeface="Consolas"/>
                  <a:cs typeface="Consolas"/>
                  <a:sym typeface="Consolas"/>
                </a:rPr>
                <a:t>AllyCharacterBase</a:t>
              </a:r>
              <a:endParaRPr b="1" sz="180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Tick FSM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무기 시스템 연동</a:t>
              </a:r>
              <a:endParaRPr b="0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p19"/>
          <p:cNvGrpSpPr/>
          <p:nvPr/>
        </p:nvGrpSpPr>
        <p:grpSpPr>
          <a:xfrm>
            <a:off x="2149400" y="5511800"/>
            <a:ext cx="6667500" cy="3619500"/>
            <a:chOff x="952500" y="4572000"/>
            <a:chExt cx="6667500" cy="3619500"/>
          </a:xfrm>
        </p:grpSpPr>
        <p:pic>
          <p:nvPicPr>
            <p:cNvPr id="261" name="Google Shape;261;p19"/>
            <p:cNvPicPr preferRelativeResize="0"/>
            <p:nvPr/>
          </p:nvPicPr>
          <p:blipFill rotWithShape="1">
            <a:blip r:embed="rId4">
              <a:alphaModFix/>
            </a:blip>
            <a:srcRect b="0" l="1821" r="1821" t="0"/>
            <a:stretch/>
          </p:blipFill>
          <p:spPr>
            <a:xfrm>
              <a:off x="952500" y="4572000"/>
              <a:ext cx="6667500" cy="3619500"/>
            </a:xfrm>
            <a:prstGeom prst="roundRect">
              <a:avLst>
                <a:gd fmla="val 3947" name="adj"/>
              </a:avLst>
            </a:prstGeom>
            <a:noFill/>
            <a:ln>
              <a:noFill/>
            </a:ln>
          </p:spPr>
        </p:pic>
        <p:sp>
          <p:nvSpPr>
            <p:cNvPr id="262" name="Google Shape;262;p19"/>
            <p:cNvSpPr/>
            <p:nvPr/>
          </p:nvSpPr>
          <p:spPr>
            <a:xfrm>
              <a:off x="952500" y="4572000"/>
              <a:ext cx="6667500" cy="3619500"/>
            </a:xfrm>
            <a:prstGeom prst="roundRect">
              <a:avLst>
                <a:gd fmla="val 3947" name="adj"/>
              </a:avLst>
            </a:prstGeom>
            <a:solidFill>
              <a:srgbClr val="000000">
                <a:alpha val="0"/>
              </a:srgbClr>
            </a:solidFill>
            <a:ln cap="flat" cmpd="sng" w="19050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19"/>
          <p:cNvGrpSpPr/>
          <p:nvPr/>
        </p:nvGrpSpPr>
        <p:grpSpPr>
          <a:xfrm>
            <a:off x="9102650" y="5511800"/>
            <a:ext cx="7048500" cy="3619500"/>
            <a:chOff x="7905750" y="4572000"/>
            <a:chExt cx="7048500" cy="3619500"/>
          </a:xfrm>
        </p:grpSpPr>
        <p:sp>
          <p:nvSpPr>
            <p:cNvPr id="264" name="Google Shape;264;p19"/>
            <p:cNvSpPr/>
            <p:nvPr/>
          </p:nvSpPr>
          <p:spPr>
            <a:xfrm>
              <a:off x="7905750" y="4572000"/>
              <a:ext cx="7048500" cy="3619500"/>
            </a:xfrm>
            <a:prstGeom prst="roundRect">
              <a:avLst>
                <a:gd fmla="val 39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8191500" y="4857750"/>
              <a:ext cx="64770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Ally NPC 메커니즘</a:t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t/>
              </a:r>
              <a:endParaRPr b="1" sz="2400">
                <a:solidFill>
                  <a:srgbClr val="0284C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• Player 특정 위치 진입 감지 (오버랩)</a:t>
              </a:r>
              <a:endParaRPr b="0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• StoryManager에서 Phase 진입 Broadcast</a:t>
              </a:r>
              <a:endParaRPr b="0" sz="1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Ally NPC는 Tick 기반의 Finite State Machine(FSM)을 사용하며, Story 및 Phase Manager를 통해 유기적으로 제어됩니다.</a:t>
              </a:r>
              <a:endParaRPr b="0" sz="15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66" name="Google Shape;2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9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01-1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9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FFFF"/>
                </a:solidFill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9"/>
          <p:cNvSpPr txBox="1"/>
          <p:nvPr/>
        </p:nvSpPr>
        <p:spPr>
          <a:xfrm>
            <a:off x="3822750" y="76205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물리기반 FPS : MW3 모작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277" name="Google Shape;27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0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01-1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FFFF"/>
                </a:solidFill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3822750" y="76205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 sz="3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물리기반 FPS : MW3 모작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58" y="9001600"/>
            <a:ext cx="173355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5062750" y="9134900"/>
            <a:ext cx="81753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Ally NPC - Tick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기반 FSM, Story&amp;Phase Manager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765468" y="2113988"/>
            <a:ext cx="4345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139"/>
              <a:buFont typeface="Calibri"/>
              <a:buNone/>
            </a:pPr>
            <a:r>
              <a:rPr b="0" i="0" lang="en-US" sz="2139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Phase-Driven Event Architecture</a:t>
            </a:r>
            <a:endParaRPr b="0" i="0" sz="21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20"/>
          <p:cNvCxnSpPr/>
          <p:nvPr/>
        </p:nvCxnSpPr>
        <p:spPr>
          <a:xfrm>
            <a:off x="765216" y="2610506"/>
            <a:ext cx="16355400" cy="0"/>
          </a:xfrm>
          <a:prstGeom prst="straightConnector1">
            <a:avLst/>
          </a:prstGeom>
          <a:noFill/>
          <a:ln cap="flat" cmpd="sng" w="18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8" name="Google Shape;288;p20"/>
          <p:cNvSpPr/>
          <p:nvPr/>
        </p:nvSpPr>
        <p:spPr>
          <a:xfrm>
            <a:off x="765478" y="2692642"/>
            <a:ext cx="3555300" cy="1866300"/>
          </a:xfrm>
          <a:prstGeom prst="rect">
            <a:avLst/>
          </a:prstGeom>
          <a:solidFill>
            <a:srgbClr val="1E293B"/>
          </a:solidFill>
          <a:ln cap="flat" cmpd="sng" w="19725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0"/>
          <p:cNvSpPr/>
          <p:nvPr/>
        </p:nvSpPr>
        <p:spPr>
          <a:xfrm>
            <a:off x="765478" y="2692642"/>
            <a:ext cx="3555300" cy="88800"/>
          </a:xfrm>
          <a:prstGeom prst="rect">
            <a:avLst/>
          </a:prstGeom>
          <a:solidFill>
            <a:srgbClr val="FBBF24"/>
          </a:solidFill>
          <a:ln cap="flat" cmpd="sng" w="24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765478" y="2870413"/>
            <a:ext cx="355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39"/>
              <a:buFont typeface="Consolas"/>
              <a:buNone/>
            </a:pPr>
            <a:r>
              <a:rPr b="1" i="0" lang="en-US" sz="2139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PhaseTrigger</a:t>
            </a:r>
            <a:endParaRPr b="0" i="0" sz="21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943250" y="3474836"/>
            <a:ext cx="3199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BoxComponent 오버랩 감지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페이즈 전환 발동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320922" y="3323730"/>
            <a:ext cx="711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3111"/>
              <a:buFont typeface="Calibri"/>
              <a:buNone/>
            </a:pPr>
            <a:r>
              <a:rPr b="0" i="0" lang="en-US" sz="3111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1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032010" y="2692642"/>
            <a:ext cx="3555300" cy="1866300"/>
          </a:xfrm>
          <a:prstGeom prst="rect">
            <a:avLst/>
          </a:prstGeom>
          <a:solidFill>
            <a:srgbClr val="1E293B"/>
          </a:solidFill>
          <a:ln cap="flat" cmpd="sng" w="197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0"/>
          <p:cNvSpPr/>
          <p:nvPr/>
        </p:nvSpPr>
        <p:spPr>
          <a:xfrm>
            <a:off x="5032010" y="2692642"/>
            <a:ext cx="3555300" cy="88800"/>
          </a:xfrm>
          <a:prstGeom prst="rect">
            <a:avLst/>
          </a:prstGeom>
          <a:solidFill>
            <a:srgbClr val="22C55E"/>
          </a:solidFill>
          <a:ln cap="flat" cmpd="sng" w="24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5032010" y="2870413"/>
            <a:ext cx="355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39"/>
              <a:buFont typeface="Consolas"/>
              <a:buNone/>
            </a:pPr>
            <a:r>
              <a:rPr b="1" i="0" lang="en-US" sz="2139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StoryManager</a:t>
            </a:r>
            <a:endParaRPr b="0" i="0" sz="21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209783" y="3474836"/>
            <a:ext cx="3199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페이즈 상태 관리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컨트롤러 등록·명령 전파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8587454" y="3323730"/>
            <a:ext cx="711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3111"/>
              <a:buFont typeface="Calibri"/>
              <a:buNone/>
            </a:pPr>
            <a:r>
              <a:rPr b="0" i="0" lang="en-US" sz="3111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1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9298543" y="2692642"/>
            <a:ext cx="3555300" cy="1866300"/>
          </a:xfrm>
          <a:prstGeom prst="rect">
            <a:avLst/>
          </a:prstGeom>
          <a:solidFill>
            <a:srgbClr val="1E293B"/>
          </a:solidFill>
          <a:ln cap="flat" cmpd="sng" w="19725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9298543" y="2692642"/>
            <a:ext cx="3555300" cy="88800"/>
          </a:xfrm>
          <a:prstGeom prst="rect">
            <a:avLst/>
          </a:prstGeom>
          <a:solidFill>
            <a:srgbClr val="38BDF8"/>
          </a:solidFill>
          <a:ln cap="flat" cmpd="sng" w="247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0"/>
          <p:cNvSpPr/>
          <p:nvPr/>
        </p:nvSpPr>
        <p:spPr>
          <a:xfrm>
            <a:off x="9298543" y="2870413"/>
            <a:ext cx="355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39"/>
              <a:buFont typeface="Consolas"/>
              <a:buNone/>
            </a:pPr>
            <a:r>
              <a:rPr b="1" i="0" lang="en-US" sz="2139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AllyAIController</a:t>
            </a:r>
            <a:endParaRPr b="0" i="0" sz="21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9476315" y="3474836"/>
            <a:ext cx="3199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명령 수신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NavMesh 이동 처리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12853986" y="3323730"/>
            <a:ext cx="7110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3111"/>
              <a:buFont typeface="Calibri"/>
              <a:buNone/>
            </a:pPr>
            <a:r>
              <a:rPr b="0" i="0" lang="en-US" sz="3111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3111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13565075" y="2692642"/>
            <a:ext cx="3555300" cy="1866300"/>
          </a:xfrm>
          <a:prstGeom prst="rect">
            <a:avLst/>
          </a:prstGeom>
          <a:solidFill>
            <a:srgbClr val="1E293B"/>
          </a:solidFill>
          <a:ln cap="flat" cmpd="sng" w="19725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0"/>
          <p:cNvSpPr/>
          <p:nvPr/>
        </p:nvSpPr>
        <p:spPr>
          <a:xfrm>
            <a:off x="13565075" y="2692642"/>
            <a:ext cx="3555300" cy="88800"/>
          </a:xfrm>
          <a:prstGeom prst="rect">
            <a:avLst/>
          </a:prstGeom>
          <a:solidFill>
            <a:srgbClr val="A78BFA"/>
          </a:solidFill>
          <a:ln cap="flat" cmpd="sng" w="24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750" lIns="177750" spcFirstLastPara="1" rIns="177750" wrap="square" tIns="177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0"/>
          <p:cNvSpPr/>
          <p:nvPr/>
        </p:nvSpPr>
        <p:spPr>
          <a:xfrm>
            <a:off x="13565075" y="2870413"/>
            <a:ext cx="35553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2139"/>
              <a:buFont typeface="Consolas"/>
              <a:buNone/>
            </a:pPr>
            <a:r>
              <a:rPr b="1" i="0" lang="en-US" sz="2139" u="none" cap="none" strike="noStrike">
                <a:solidFill>
                  <a:srgbClr val="F1F5F9"/>
                </a:solidFill>
                <a:latin typeface="Consolas"/>
                <a:ea typeface="Consolas"/>
                <a:cs typeface="Consolas"/>
                <a:sym typeface="Consolas"/>
              </a:rPr>
              <a:t>AllyCharacterBase</a:t>
            </a:r>
            <a:endParaRPr b="0" i="0" sz="213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13742847" y="3474836"/>
            <a:ext cx="31998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lang="en-US" sz="17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Tick FSM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750"/>
              <a:buFont typeface="Calibri"/>
              <a:buNone/>
            </a:pPr>
            <a:r>
              <a:rPr b="0" i="0" lang="en-US" sz="1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무기 시스템 연동</a:t>
            </a:r>
            <a:endParaRPr b="0" i="0" sz="17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113" y="4687400"/>
            <a:ext cx="7900623" cy="4132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8" name="Google Shape;308;p20"/>
          <p:cNvCxnSpPr/>
          <p:nvPr/>
        </p:nvCxnSpPr>
        <p:spPr>
          <a:xfrm flipH="1" rot="10800000">
            <a:off x="5386550" y="7324400"/>
            <a:ext cx="372300" cy="886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20"/>
          <p:cNvCxnSpPr/>
          <p:nvPr/>
        </p:nvCxnSpPr>
        <p:spPr>
          <a:xfrm>
            <a:off x="1970700" y="5868275"/>
            <a:ext cx="788400" cy="1357500"/>
          </a:xfrm>
          <a:prstGeom prst="straightConnector1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310" name="Google Shape;310;p20"/>
          <p:cNvGrpSpPr/>
          <p:nvPr/>
        </p:nvGrpSpPr>
        <p:grpSpPr>
          <a:xfrm>
            <a:off x="9584300" y="5125825"/>
            <a:ext cx="7048500" cy="2209343"/>
            <a:chOff x="9388400" y="5700961"/>
            <a:chExt cx="7048500" cy="3619500"/>
          </a:xfrm>
        </p:grpSpPr>
        <p:sp>
          <p:nvSpPr>
            <p:cNvPr id="311" name="Google Shape;311;p20"/>
            <p:cNvSpPr/>
            <p:nvPr/>
          </p:nvSpPr>
          <p:spPr>
            <a:xfrm>
              <a:off x="9388400" y="5700961"/>
              <a:ext cx="7048500" cy="3619500"/>
            </a:xfrm>
            <a:prstGeom prst="roundRect">
              <a:avLst>
                <a:gd fmla="val 3947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0"/>
            <p:cNvSpPr txBox="1"/>
            <p:nvPr/>
          </p:nvSpPr>
          <p:spPr>
            <a:xfrm>
              <a:off x="9674150" y="5940960"/>
              <a:ext cx="64770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95250" lIns="95250" spcFirstLastPara="1" rIns="95250" wrap="square" tIns="95250">
              <a:noAutofit/>
            </a:bodyPr>
            <a:lstStyle/>
            <a:p>
              <a:pPr indent="-3810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●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Player 특정 위치 진입 감지(오버랩)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Char char="●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Manager에서 Phase 진입 Broadcast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18" name="Google Shape;31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1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MHGA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1524000" y="3086100"/>
            <a:ext cx="5181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햄버거 포장지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30" name="Google Shape;3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2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MHGA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22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2"/>
          <p:cNvSpPr txBox="1"/>
          <p:nvPr/>
        </p:nvSpPr>
        <p:spPr>
          <a:xfrm>
            <a:off x="1524000" y="3086100"/>
            <a:ext cx="12776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햄버거 포장지는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충돌감지 -&gt; 검사과정(인식,중복,예외 등) -&gt; 확인후 포장지 내의 배열에 튜?플로서 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충돌 해제 -&gt; 검사과정(인식, 중복, 예외 등) -&gt; 확인 후 포장내부 배열에서 삭제. (삭제 처리중 메모리 해제 등 주의)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제작트리거 -&gt; 배열내부 검사 -&gt; DT 조회 후 판정 -&gt; 결과 배출(O/X)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 플레이 고려. RPC/Rep 처리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42" name="Google Shape;3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3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3"/>
          <p:cNvSpPr txBox="1"/>
          <p:nvPr/>
        </p:nvSpPr>
        <p:spPr>
          <a:xfrm>
            <a:off x="1524000" y="3086100"/>
            <a:ext cx="5181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Multiplay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54" name="Google Shape;35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4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4"/>
          <p:cNvSpPr txBox="1"/>
          <p:nvPr/>
        </p:nvSpPr>
        <p:spPr>
          <a:xfrm>
            <a:off x="1524000" y="3086100"/>
            <a:ext cx="11689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Listen 서버 구축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호스트(기업) : 자사에서 운영하는 면접 공간 호스팅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클라이언트(구직자) : 원하는 기업의 세션에 입장하여 AI면접 OR 인사담당자와의 온라인 면접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꼼수 : AI면접은 2층의 동일한 레벨구성 공간으로 텔레포트 , 마이크-&gt; ReNe 서버 -&gt; 백단:음성데이터 처리 -&gt; 클라이언트 / 마이크 브로드캐스트 일시중지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66" name="Google Shape;36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5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 - </a:t>
            </a:r>
            <a:r>
              <a:rPr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Role기반 UI 분기 구현</a:t>
            </a:r>
            <a:endParaRPr sz="35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 txBox="1"/>
          <p:nvPr/>
        </p:nvSpPr>
        <p:spPr>
          <a:xfrm>
            <a:off x="482600" y="5616663"/>
            <a:ext cx="9174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로그인 Role 값을 기준으로 Company(Host)와 Seeker(Guest)를 구분하고,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 사용자 유형에 맞는 전용 UI를 제공했습니다.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이후 UI 수가 증가하면서 개별 위젯 생성/제거 방식의 한계가 드러났고,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이를 개선하기 위해 CommonUI 기반 Stack 구조를 도입했습니다.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600" y="1891775"/>
            <a:ext cx="4119498" cy="3007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74700" y="1891775"/>
            <a:ext cx="7443402" cy="4186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25"/>
          <p:cNvGrpSpPr/>
          <p:nvPr/>
        </p:nvGrpSpPr>
        <p:grpSpPr>
          <a:xfrm>
            <a:off x="4755988" y="1891763"/>
            <a:ext cx="5766013" cy="2883988"/>
            <a:chOff x="482588" y="1834313"/>
            <a:chExt cx="5766013" cy="2883988"/>
          </a:xfrm>
        </p:grpSpPr>
        <p:pic>
          <p:nvPicPr>
            <p:cNvPr id="376" name="Google Shape;376;p25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82588" y="1834313"/>
              <a:ext cx="5553075" cy="23526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25"/>
            <p:cNvSpPr txBox="1"/>
            <p:nvPr/>
          </p:nvSpPr>
          <p:spPr>
            <a:xfrm>
              <a:off x="482600" y="4187000"/>
              <a:ext cx="5766000" cy="5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Role 값에 따라 로그인 API Endpoint를 분리하고, 이후 UI 표시 흐름까지 연결</a:t>
              </a: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8" name="Google Shape;378;p25"/>
          <p:cNvSpPr txBox="1"/>
          <p:nvPr/>
        </p:nvSpPr>
        <p:spPr>
          <a:xfrm>
            <a:off x="10374700" y="6269925"/>
            <a:ext cx="6185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구현 내용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Role 값으로 로그인 API Endpoint 분리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로그인 결과를 GameInstance에 캐싱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PlayerController에서 Role에 따른 전용 UI 생성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7925" y="1742850"/>
            <a:ext cx="18681698" cy="93661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pic>
        <p:nvPicPr>
          <p:cNvPr id="384" name="Google Shape;38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26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 - </a:t>
            </a:r>
            <a:r>
              <a:rPr lang="en-US" sz="3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CommonUI 기반 UI 관리 구조 개선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6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9600000" y="7629430"/>
            <a:ext cx="798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유지보수성 향상을 위해 블루프린트 함수를 직접 구현하고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UI를 개별 Viewport에 직접 올리는 방식에서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기반으로 화면 전환을 관리하는 구조로 개선했습니다.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 txBox="1"/>
          <p:nvPr/>
        </p:nvSpPr>
        <p:spPr>
          <a:xfrm>
            <a:off x="482600" y="2617113"/>
            <a:ext cx="8378400" cy="21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기존 구조에서는 각 기능 클래스와 위젯이 직접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CreateWidget / AddToViewport / RemoveFromParent를 호출했습니다.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초기 구현은 빠르게 가능했지만,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UI 수가 늘어나면서 생성/제거 위치가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GameMode, PlayerController, 개별 Widget으로 분산되었습니다.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26"/>
          <p:cNvGrpSpPr/>
          <p:nvPr/>
        </p:nvGrpSpPr>
        <p:grpSpPr>
          <a:xfrm>
            <a:off x="482612" y="4495490"/>
            <a:ext cx="8984293" cy="4529481"/>
            <a:chOff x="482594" y="1795969"/>
            <a:chExt cx="9181700" cy="4529481"/>
          </a:xfrm>
        </p:grpSpPr>
        <p:pic>
          <p:nvPicPr>
            <p:cNvPr id="393" name="Google Shape;393;p26" title="Complex_ButtonBind.png"/>
            <p:cNvPicPr preferRelativeResize="0"/>
            <p:nvPr/>
          </p:nvPicPr>
          <p:blipFill>
            <a:blip r:embed="rId7">
              <a:alphaModFix amt="50000"/>
            </a:blip>
            <a:stretch>
              <a:fillRect/>
            </a:stretch>
          </p:blipFill>
          <p:spPr>
            <a:xfrm>
              <a:off x="482594" y="1795969"/>
              <a:ext cx="9181700" cy="413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4" name="Google Shape;394;p26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482600" y="2760013"/>
              <a:ext cx="1295400" cy="3171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26"/>
            <p:cNvSpPr txBox="1"/>
            <p:nvPr/>
          </p:nvSpPr>
          <p:spPr>
            <a:xfrm>
              <a:off x="482600" y="5931850"/>
              <a:ext cx="56253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</a:rPr>
                <a:t>Widget별 이벤트 바인딩과 화면 전환 로직이 한 그래프에 누적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6" name="Google Shape;396;p26"/>
          <p:cNvGrpSpPr/>
          <p:nvPr/>
        </p:nvGrpSpPr>
        <p:grpSpPr>
          <a:xfrm>
            <a:off x="9600000" y="2617125"/>
            <a:ext cx="8099051" cy="2371363"/>
            <a:chOff x="9719050" y="1795975"/>
            <a:chExt cx="8099051" cy="2371363"/>
          </a:xfrm>
        </p:grpSpPr>
        <p:pic>
          <p:nvPicPr>
            <p:cNvPr id="397" name="Google Shape;397;p26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9719050" y="1795975"/>
              <a:ext cx="8099051" cy="201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26"/>
            <p:cNvSpPr txBox="1"/>
            <p:nvPr/>
          </p:nvSpPr>
          <p:spPr>
            <a:xfrm>
              <a:off x="9719050" y="3773738"/>
              <a:ext cx="4356600" cy="39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PlayerController에서 PrimaryLayout 1회 생성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9" name="Google Shape;399;p26"/>
          <p:cNvGrpSpPr/>
          <p:nvPr/>
        </p:nvGrpSpPr>
        <p:grpSpPr>
          <a:xfrm>
            <a:off x="13774750" y="4679638"/>
            <a:ext cx="3924300" cy="3074938"/>
            <a:chOff x="13698100" y="4739663"/>
            <a:chExt cx="3924300" cy="3074938"/>
          </a:xfrm>
        </p:grpSpPr>
        <p:pic>
          <p:nvPicPr>
            <p:cNvPr id="400" name="Google Shape;400;p26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698100" y="4739663"/>
              <a:ext cx="3924300" cy="2562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26"/>
            <p:cNvSpPr txBox="1"/>
            <p:nvPr/>
          </p:nvSpPr>
          <p:spPr>
            <a:xfrm>
              <a:off x="13698100" y="7301900"/>
              <a:ext cx="3722100" cy="51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이후 화면은 Push 노드로 Stack에 추가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2" name="Google Shape;402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774750" y="6274450"/>
            <a:ext cx="2057400" cy="97155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0"/>
              </a:srgbClr>
            </a:outerShdw>
          </a:effectLst>
        </p:spPr>
      </p:pic>
      <p:sp>
        <p:nvSpPr>
          <p:cNvPr id="403" name="Google Shape;403;p26"/>
          <p:cNvSpPr txBox="1"/>
          <p:nvPr/>
        </p:nvSpPr>
        <p:spPr>
          <a:xfrm>
            <a:off x="482600" y="1855125"/>
            <a:ext cx="57690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: 개별 Widget 중심 관리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9719050" y="1855125"/>
            <a:ext cx="71691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: PrimaryLayout + WidgetStack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2178850" y="9313225"/>
            <a:ext cx="14709300" cy="5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단순 UI 제작을 넘어서, UI 생명주기와 화면 전환 책임을 중앙화하는 구조 개선을 목표로 했습니다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9600000" y="5313525"/>
            <a:ext cx="3994800" cy="17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- UISubsystem에서 UI Stack 중앙 관리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</a:rPr>
              <a:t>- GameplayTag로 FrontEnd / HUD / Modal Stack 분리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- SoftClass 기반 비동기 Push 노드 구현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12" name="Google Shape;4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1800" y="8470900"/>
            <a:ext cx="8483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600" y="3606800"/>
            <a:ext cx="8483600" cy="60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900" y="3606800"/>
            <a:ext cx="8483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3606800"/>
            <a:ext cx="8470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5207000"/>
            <a:ext cx="8470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6794500"/>
            <a:ext cx="8470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7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7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7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7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7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성과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7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7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7"/>
          <p:cNvSpPr txBox="1"/>
          <p:nvPr/>
        </p:nvSpPr>
        <p:spPr>
          <a:xfrm>
            <a:off x="9537700" y="8648700"/>
            <a:ext cx="81534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결론을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요약하여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써주세요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경험에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결과를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잘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보여주는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KPI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풀어주세요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7"/>
          <p:cNvSpPr txBox="1"/>
          <p:nvPr/>
        </p:nvSpPr>
        <p:spPr>
          <a:xfrm>
            <a:off x="9321800" y="43815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7"/>
          <p:cNvSpPr txBox="1"/>
          <p:nvPr/>
        </p:nvSpPr>
        <p:spPr>
          <a:xfrm>
            <a:off x="9321800" y="38227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7"/>
          <p:cNvSpPr txBox="1"/>
          <p:nvPr/>
        </p:nvSpPr>
        <p:spPr>
          <a:xfrm>
            <a:off x="9321800" y="59436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7"/>
          <p:cNvSpPr txBox="1"/>
          <p:nvPr/>
        </p:nvSpPr>
        <p:spPr>
          <a:xfrm>
            <a:off x="9321800" y="53975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7"/>
          <p:cNvSpPr txBox="1"/>
          <p:nvPr/>
        </p:nvSpPr>
        <p:spPr>
          <a:xfrm>
            <a:off x="9321800" y="75311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"/>
          <p:cNvSpPr txBox="1"/>
          <p:nvPr/>
        </p:nvSpPr>
        <p:spPr>
          <a:xfrm>
            <a:off x="9321800" y="69850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42" name="Google Shape;4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0" y="3594100"/>
            <a:ext cx="10198100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8608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59436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80391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36068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0" y="3594100"/>
            <a:ext cx="10198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00" y="56769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77470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72400" y="3911600"/>
            <a:ext cx="9867900" cy="55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5000" y="61214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49300" y="8343900"/>
            <a:ext cx="5588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0400" y="40259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28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8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8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8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8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8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28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8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8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8"/>
          <p:cNvSpPr txBox="1"/>
          <p:nvPr/>
        </p:nvSpPr>
        <p:spPr>
          <a:xfrm>
            <a:off x="1841500" y="43688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1841500" y="37973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8"/>
          <p:cNvSpPr txBox="1"/>
          <p:nvPr/>
        </p:nvSpPr>
        <p:spPr>
          <a:xfrm>
            <a:off x="1841500" y="64516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8"/>
          <p:cNvSpPr txBox="1"/>
          <p:nvPr/>
        </p:nvSpPr>
        <p:spPr>
          <a:xfrm>
            <a:off x="18415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8"/>
          <p:cNvSpPr txBox="1"/>
          <p:nvPr/>
        </p:nvSpPr>
        <p:spPr>
          <a:xfrm>
            <a:off x="1841500" y="85217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28"/>
          <p:cNvSpPr txBox="1"/>
          <p:nvPr/>
        </p:nvSpPr>
        <p:spPr>
          <a:xfrm>
            <a:off x="18415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77" name="Google Shape;47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5346700"/>
            <a:ext cx="173482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35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317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9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35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317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500" y="5486400"/>
            <a:ext cx="16700500" cy="39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50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86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968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29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29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29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29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9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9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9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9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9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9"/>
          <p:cNvSpPr txBox="1"/>
          <p:nvPr/>
        </p:nvSpPr>
        <p:spPr>
          <a:xfrm>
            <a:off x="135763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29"/>
          <p:cNvSpPr txBox="1"/>
          <p:nvPr/>
        </p:nvSpPr>
        <p:spPr>
          <a:xfrm>
            <a:off x="136144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76835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76835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29"/>
          <p:cNvSpPr txBox="1"/>
          <p:nvPr/>
        </p:nvSpPr>
        <p:spPr>
          <a:xfrm>
            <a:off x="17526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29"/>
          <p:cNvSpPr txBox="1"/>
          <p:nvPr/>
        </p:nvSpPr>
        <p:spPr>
          <a:xfrm>
            <a:off x="17526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511" name="Google Shape;51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14400" y="3606800"/>
            <a:ext cx="4191000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1800" y="3606800"/>
            <a:ext cx="4191000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6654800"/>
            <a:ext cx="8483600" cy="2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0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09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00" y="36068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56769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77470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21800" y="3606800"/>
            <a:ext cx="4191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21800" y="6654800"/>
            <a:ext cx="8483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601700" y="3606800"/>
            <a:ext cx="4191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0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0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30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30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30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0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수행하며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0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0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0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0"/>
          <p:cNvSpPr txBox="1"/>
          <p:nvPr/>
        </p:nvSpPr>
        <p:spPr>
          <a:xfrm>
            <a:off x="457200" y="3797300"/>
            <a:ext cx="863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0"/>
          <p:cNvSpPr txBox="1"/>
          <p:nvPr/>
        </p:nvSpPr>
        <p:spPr>
          <a:xfrm>
            <a:off x="457200" y="64897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0"/>
          <p:cNvSpPr txBox="1"/>
          <p:nvPr/>
        </p:nvSpPr>
        <p:spPr>
          <a:xfrm>
            <a:off x="4572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0"/>
          <p:cNvSpPr txBox="1"/>
          <p:nvPr/>
        </p:nvSpPr>
        <p:spPr>
          <a:xfrm>
            <a:off x="457200" y="85598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0"/>
          <p:cNvSpPr txBox="1"/>
          <p:nvPr/>
        </p:nvSpPr>
        <p:spPr>
          <a:xfrm>
            <a:off x="4572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6096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35052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0"/>
          <p:cNvSpPr txBox="1"/>
          <p:nvPr/>
        </p:nvSpPr>
        <p:spPr>
          <a:xfrm>
            <a:off x="63881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548" name="Google Shape;5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43942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43942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64643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64643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85471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85471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87500" y="36195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80700" y="36195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287500" y="56896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287500" y="77597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80700" y="77597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80700" y="56896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46228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47625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66929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68326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87757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89027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7200" y="36068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3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7200" y="56769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3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7200" y="77470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36068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36068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56769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56769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77470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7747000"/>
            <a:ext cx="35306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1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1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1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1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수행하며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1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1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1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1"/>
          <p:cNvSpPr txBox="1"/>
          <p:nvPr/>
        </p:nvSpPr>
        <p:spPr>
          <a:xfrm>
            <a:off x="457200" y="3797300"/>
            <a:ext cx="863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1"/>
          <p:cNvSpPr txBox="1"/>
          <p:nvPr/>
        </p:nvSpPr>
        <p:spPr>
          <a:xfrm>
            <a:off x="4572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1"/>
          <p:cNvSpPr txBox="1"/>
          <p:nvPr/>
        </p:nvSpPr>
        <p:spPr>
          <a:xfrm>
            <a:off x="4572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1"/>
          <p:cNvSpPr txBox="1"/>
          <p:nvPr/>
        </p:nvSpPr>
        <p:spPr>
          <a:xfrm>
            <a:off x="609600" y="45212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1"/>
          <p:cNvSpPr txBox="1"/>
          <p:nvPr/>
        </p:nvSpPr>
        <p:spPr>
          <a:xfrm>
            <a:off x="5905500" y="45212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31"/>
          <p:cNvSpPr txBox="1"/>
          <p:nvPr/>
        </p:nvSpPr>
        <p:spPr>
          <a:xfrm>
            <a:off x="609600" y="65913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31"/>
          <p:cNvSpPr txBox="1"/>
          <p:nvPr/>
        </p:nvSpPr>
        <p:spPr>
          <a:xfrm>
            <a:off x="5905500" y="65913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1"/>
          <p:cNvSpPr txBox="1"/>
          <p:nvPr/>
        </p:nvSpPr>
        <p:spPr>
          <a:xfrm>
            <a:off x="609600" y="86741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1"/>
          <p:cNvSpPr txBox="1"/>
          <p:nvPr/>
        </p:nvSpPr>
        <p:spPr>
          <a:xfrm>
            <a:off x="5905500" y="86741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601" name="Google Shape;60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2" name="Google Shape;602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3606800"/>
            <a:ext cx="5473700" cy="60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6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5400" y="3606800"/>
            <a:ext cx="1143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5400" y="6705600"/>
            <a:ext cx="1143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54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1986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627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743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1732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2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32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2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2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32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2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가장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의미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있었던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2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2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2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2"/>
          <p:cNvSpPr txBox="1"/>
          <p:nvPr/>
        </p:nvSpPr>
        <p:spPr>
          <a:xfrm>
            <a:off x="6375400" y="37973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2"/>
          <p:cNvSpPr txBox="1"/>
          <p:nvPr/>
        </p:nvSpPr>
        <p:spPr>
          <a:xfrm>
            <a:off x="69342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2"/>
          <p:cNvSpPr txBox="1"/>
          <p:nvPr/>
        </p:nvSpPr>
        <p:spPr>
          <a:xfrm>
            <a:off x="108458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2"/>
          <p:cNvSpPr txBox="1"/>
          <p:nvPr/>
        </p:nvSpPr>
        <p:spPr>
          <a:xfrm>
            <a:off x="147447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32"/>
          <p:cNvSpPr txBox="1"/>
          <p:nvPr/>
        </p:nvSpPr>
        <p:spPr>
          <a:xfrm>
            <a:off x="6413500" y="5626100"/>
            <a:ext cx="11455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해당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부분입니다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2"/>
          <p:cNvSpPr txBox="1"/>
          <p:nvPr/>
        </p:nvSpPr>
        <p:spPr>
          <a:xfrm>
            <a:off x="63246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2"/>
          <p:cNvSpPr txBox="1"/>
          <p:nvPr/>
        </p:nvSpPr>
        <p:spPr>
          <a:xfrm>
            <a:off x="66294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32"/>
          <p:cNvSpPr txBox="1"/>
          <p:nvPr/>
        </p:nvSpPr>
        <p:spPr>
          <a:xfrm>
            <a:off x="105283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32"/>
          <p:cNvSpPr txBox="1"/>
          <p:nvPr/>
        </p:nvSpPr>
        <p:spPr>
          <a:xfrm>
            <a:off x="144399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32"/>
          <p:cNvSpPr txBox="1"/>
          <p:nvPr/>
        </p:nvSpPr>
        <p:spPr>
          <a:xfrm>
            <a:off x="102489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32"/>
          <p:cNvSpPr txBox="1"/>
          <p:nvPr/>
        </p:nvSpPr>
        <p:spPr>
          <a:xfrm>
            <a:off x="141478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639" name="Google Shape;6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35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4" name="Google Shape;644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317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9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35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3317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6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262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3317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33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33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3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3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3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3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33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가장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의미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있었던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3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3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3"/>
          <p:cNvSpPr txBox="1"/>
          <p:nvPr/>
        </p:nvSpPr>
        <p:spPr>
          <a:xfrm>
            <a:off x="698500" y="7759700"/>
            <a:ext cx="5016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33"/>
          <p:cNvSpPr txBox="1"/>
          <p:nvPr/>
        </p:nvSpPr>
        <p:spPr>
          <a:xfrm>
            <a:off x="4826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3"/>
          <p:cNvSpPr txBox="1"/>
          <p:nvPr/>
        </p:nvSpPr>
        <p:spPr>
          <a:xfrm>
            <a:off x="6629400" y="7759700"/>
            <a:ext cx="50419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3"/>
          <p:cNvSpPr txBox="1"/>
          <p:nvPr/>
        </p:nvSpPr>
        <p:spPr>
          <a:xfrm>
            <a:off x="64135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33"/>
          <p:cNvSpPr txBox="1"/>
          <p:nvPr/>
        </p:nvSpPr>
        <p:spPr>
          <a:xfrm>
            <a:off x="12509500" y="7759700"/>
            <a:ext cx="5105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33"/>
          <p:cNvSpPr txBox="1"/>
          <p:nvPr/>
        </p:nvSpPr>
        <p:spPr>
          <a:xfrm>
            <a:off x="123190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4"/>
          <p:cNvSpPr txBox="1"/>
          <p:nvPr/>
        </p:nvSpPr>
        <p:spPr>
          <a:xfrm>
            <a:off x="317500" y="2603500"/>
            <a:ext cx="17653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1" name="Google Shape;67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5143500"/>
            <a:ext cx="1868170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0700" y="9296400"/>
            <a:ext cx="12166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4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4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010-1234-5678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mirikim@miricompany.com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www.kimmiri-site.co.kr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4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끝까지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검토해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주셔서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4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0" i="0" lang="en-US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Kim Mi-ri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