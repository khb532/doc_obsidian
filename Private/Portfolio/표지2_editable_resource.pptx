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b9f9af53f4215" /><Relationship Type="http://schemas.openxmlformats.org/officeDocument/2006/relationships/extended-properties" Target="/docProps/app.xml" Id="R7bf9742a4789412f" /><Relationship Type="http://schemas.openxmlformats.org/officeDocument/2006/relationships/officeDocument" Target="/ppt/presentation.xml" Id="Rb49e78b8faed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fb8afe867e400d"/>
  </p:sldMasterIdLst>
  <p:notesMasterIdLst>
    <p:notesMasterId xmlns:r="http://schemas.openxmlformats.org/officeDocument/2006/relationships" r:id="Rfaa0fd15090b4af8"/>
  </p:notesMasterIdLst>
  <p:sldIdLst>
    <p:sldId xmlns:r="http://schemas.openxmlformats.org/officeDocument/2006/relationships" id="256" r:id="Rc18c5c62b5124c70"/>
    <p:sldId xmlns:r="http://schemas.openxmlformats.org/officeDocument/2006/relationships" id="257" r:id="Rd109dd33596a48d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7d8c2ccb34f57" /><Relationship Type="http://schemas.openxmlformats.org/officeDocument/2006/relationships/slideMaster" Target="/ppt/slideMasters/slideMaster1.xml" Id="R81fb8afe867e400d" /><Relationship Type="http://schemas.openxmlformats.org/officeDocument/2006/relationships/notesMaster" Target="/ppt/notesMasters/notesMaster1.xml" Id="Rfaa0fd15090b4af8" /><Relationship Type="http://schemas.openxmlformats.org/officeDocument/2006/relationships/presProps" Target="/ppt/presProps.xml" Id="R62ae7002269b431e" /><Relationship Type="http://schemas.openxmlformats.org/officeDocument/2006/relationships/viewProps" Target="/ppt/viewProps.xml" Id="Rb5cfb8a863104851" /><Relationship Type="http://schemas.openxmlformats.org/officeDocument/2006/relationships/tableStyles" Target="/ppt/tableStyles.xml" Id="R1bd1251ac8cc434a" /><Relationship Type="http://schemas.openxmlformats.org/officeDocument/2006/relationships/slide" Target="/ppt/slides/slide1.xml" Id="Rc18c5c62b5124c70" /><Relationship Type="http://schemas.openxmlformats.org/officeDocument/2006/relationships/slide" Target="/ppt/slides/slide2.xml" Id="Rd109dd33596a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37d01348c49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3308183f784999" /><Relationship Type="http://schemas.openxmlformats.org/officeDocument/2006/relationships/notesMaster" Target="/ppt/notesMasters/notesMaster1.xml" Id="R53b9cbdfab014e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79134b1f24909" /><Relationship Type="http://schemas.openxmlformats.org/officeDocument/2006/relationships/notesMaster" Target="/ppt/notesMasters/notesMaster1.xml" Id="R16f8b1f1038b45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c09b049ef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a5c1cfb44c4c4c" /><Relationship Type="http://schemas.openxmlformats.org/officeDocument/2006/relationships/slideLayout" Target="/ppt/slideLayouts/slideLayout1.xml" Id="Rc0e5a2c5491145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5a2c5491145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236b675fd4ce4" /><Relationship Type="http://schemas.openxmlformats.org/officeDocument/2006/relationships/notesSlide" Target="/ppt/notesSlides/notesSlide1.xml" Id="R955c06f998b34f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4ebc3c65a48b1" /><Relationship Type="http://schemas.openxmlformats.org/officeDocument/2006/relationships/notesSlide" Target="/ppt/notesSlides/notesSlide2.xml" Id="R7eb26814a11249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bg">
            <a:extLst xmlns:a="http://schemas.openxmlformats.org/drawingml/2006/main">
              <a:ext uri="{FF2B5EF4-FFF2-40B4-BE49-F238E27FC236}">
                <a16:creationId xmlns:a16="http://schemas.microsoft.com/office/drawing/2014/main" id="{D8385874-2127-4EAC-8A85-878E90F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header-bg-card">
            <a:extLst xmlns:a="http://schemas.openxmlformats.org/drawingml/2006/main">
              <a:ext uri="{FF2B5EF4-FFF2-40B4-BE49-F238E27FC236}">
                <a16:creationId xmlns:a16="http://schemas.microsoft.com/office/drawing/2014/main" id="{065AC759-31A5-4C8A-8C41-99BA674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4325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header-project-text">
            <a:extLst xmlns:a="http://schemas.openxmlformats.org/drawingml/2006/main">
              <a:ext uri="{FF2B5EF4-FFF2-40B4-BE49-F238E27FC236}">
                <a16:creationId xmlns:a16="http://schemas.microsoft.com/office/drawing/2014/main" id="{E6C9DDF8-3356-472E-9E7B-F0044B3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276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Project</a:t>
            </a:r>
          </a:p>
        </p:txBody>
      </p:sp>
      <p:sp>
        <p:nvSpPr>
          <p:cNvPr id="4" name="header-number-circle">
            <a:extLst xmlns:a="http://schemas.openxmlformats.org/drawingml/2006/main">
              <a:ext uri="{FF2B5EF4-FFF2-40B4-BE49-F238E27FC236}">
                <a16:creationId xmlns:a16="http://schemas.microsoft.com/office/drawing/2014/main" id="{B1650647-54DD-4775-BF9B-4C298596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43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" name="header-number-text">
            <a:extLst xmlns:a="http://schemas.openxmlformats.org/drawingml/2006/main">
              <a:ext uri="{FF2B5EF4-FFF2-40B4-BE49-F238E27FC236}">
                <a16:creationId xmlns:a16="http://schemas.microsoft.com/office/drawing/2014/main" id="{48AB3740-F93B-4EAB-89FB-567CC92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858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header-title-text">
            <a:extLst xmlns:a="http://schemas.openxmlformats.org/drawingml/2006/main">
              <a:ext uri="{FF2B5EF4-FFF2-40B4-BE49-F238E27FC236}">
                <a16:creationId xmlns:a16="http://schemas.microsoft.com/office/drawing/2014/main" id="{DE9E6774-542C-438D-8798-4F27EA6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8580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물리기반 FPS : MW3 모작</a:t>
            </a:r>
          </a:p>
        </p:txBody>
      </p:sp>
      <p:sp>
        <p:nvSpPr>
          <p:cNvPr id="7" name="screenshot-outer-card-bg">
            <a:extLst xmlns:a="http://schemas.openxmlformats.org/drawingml/2006/main">
              <a:ext uri="{FF2B5EF4-FFF2-40B4-BE49-F238E27FC236}">
                <a16:creationId xmlns:a16="http://schemas.microsoft.com/office/drawing/2014/main" id="{D920D6F3-2983-4E3B-A178-6529904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143875" cy="48768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screenshot-placeholder-bg">
            <a:extLst xmlns:a="http://schemas.openxmlformats.org/drawingml/2006/main">
              <a:ext uri="{FF2B5EF4-FFF2-40B4-BE49-F238E27FC236}">
                <a16:creationId xmlns:a16="http://schemas.microsoft.com/office/drawing/2014/main" id="{536BD318-C828-4EF8-B2D7-92985B8F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7686675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19050">
            <a:solidFill>
              <a:srgbClr val="C2C2C2"/>
            </a:solidFill>
            <a:prstDash val="dash"/>
          </a:ln>
        </p:spPr>
      </p:sp>
      <p:sp>
        <p:nvSpPr>
          <p:cNvPr id="9" name="screenshot-label">
            <a:extLst xmlns:a="http://schemas.openxmlformats.org/drawingml/2006/main">
              <a:ext uri="{FF2B5EF4-FFF2-40B4-BE49-F238E27FC236}">
                <a16:creationId xmlns:a16="http://schemas.microsoft.com/office/drawing/2014/main" id="{4A764F1E-8D1E-4893-9002-F5161A8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스크린샷 배치 영역</a:t>
            </a:r>
          </a:p>
        </p:txBody>
      </p:sp>
      <p:sp>
        <p:nvSpPr>
          <p:cNvPr id="10" name="screenshot-main-copy">
            <a:extLst xmlns:a="http://schemas.openxmlformats.org/drawingml/2006/main">
              <a:ext uri="{FF2B5EF4-FFF2-40B4-BE49-F238E27FC236}">
                <a16:creationId xmlns:a16="http://schemas.microsoft.com/office/drawing/2014/main" id="{5294E564-7AD5-4817-80F9-FBD1FC8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623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에펠탑 미션 장면 / 플레이어와 동료 캐릭터가 보이는 인게임 컷</a:t>
            </a:r>
          </a:p>
        </p:txBody>
      </p:sp>
      <p:sp>
        <p:nvSpPr>
          <p:cNvPr id="11" name="screenshot-sub-copy">
            <a:extLst xmlns:a="http://schemas.openxmlformats.org/drawingml/2006/main">
              <a:ext uri="{FF2B5EF4-FFF2-40B4-BE49-F238E27FC236}">
                <a16:creationId xmlns:a16="http://schemas.microsoft.com/office/drawing/2014/main" id="{7B075BFE-43A7-4F89-B996-4FE99D0C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90975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여기에는 실제 프로젝트 스크린샷을 넣고, 배경 이미지는 새로 그리지 않음</a:t>
            </a:r>
          </a:p>
        </p:txBody>
      </p:sp>
      <p:sp>
        <p:nvSpPr>
          <p:cNvPr id="12" name="route-blue-01">
            <a:extLst xmlns:a="http://schemas.openxmlformats.org/drawingml/2006/main">
              <a:ext uri="{FF2B5EF4-FFF2-40B4-BE49-F238E27FC236}">
                <a16:creationId xmlns:a16="http://schemas.microsoft.com/office/drawing/2014/main" id="{3A57F076-B703-46A2-901E-848693FA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5557">
            <a:off x="1809750" y="5114925"/>
            <a:ext cx="334976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13" name="route-blue-02">
            <a:extLst xmlns:a="http://schemas.openxmlformats.org/drawingml/2006/main">
              <a:ext uri="{FF2B5EF4-FFF2-40B4-BE49-F238E27FC236}">
                <a16:creationId xmlns:a16="http://schemas.microsoft.com/office/drawing/2014/main" id="{7CEB6833-F299-40FE-942D-E5DCCA2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3466">
            <a:off x="4972050" y="4010025"/>
            <a:ext cx="310444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14" name="route-dash-01">
            <a:extLst xmlns:a="http://schemas.openxmlformats.org/drawingml/2006/main">
              <a:ext uri="{FF2B5EF4-FFF2-40B4-BE49-F238E27FC236}">
                <a16:creationId xmlns:a16="http://schemas.microsoft.com/office/drawing/2014/main" id="{D587FD77-E9D2-4EBC-AA04-2F652DC7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9912">
            <a:off x="1952625" y="5086350"/>
            <a:ext cx="30787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5" name="route-dash-02">
            <a:extLst xmlns:a="http://schemas.openxmlformats.org/drawingml/2006/main">
              <a:ext uri="{FF2B5EF4-FFF2-40B4-BE49-F238E27FC236}">
                <a16:creationId xmlns:a16="http://schemas.microsoft.com/office/drawing/2014/main" id="{E53B1104-F252-4C8E-BF59-CFFCFC81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1816">
            <a:off x="5105400" y="3971925"/>
            <a:ext cx="28017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6" name="checkpoint-dot">
            <a:extLst xmlns:a="http://schemas.openxmlformats.org/drawingml/2006/main">
              <a:ext uri="{FF2B5EF4-FFF2-40B4-BE49-F238E27FC236}">
                <a16:creationId xmlns:a16="http://schemas.microsoft.com/office/drawing/2014/main" id="{8F0C218F-635E-4EC5-A108-A969DE4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7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story-trigger-dot">
            <a:extLst xmlns:a="http://schemas.openxmlformats.org/drawingml/2006/main">
              <a:ext uri="{FF2B5EF4-FFF2-40B4-BE49-F238E27FC236}">
                <a16:creationId xmlns:a16="http://schemas.microsoft.com/office/drawing/2014/main" id="{04368DEC-48AC-414E-A397-9FD93B92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ally-move-dot">
            <a:extLst xmlns:a="http://schemas.openxmlformats.org/drawingml/2006/main">
              <a:ext uri="{FF2B5EF4-FFF2-40B4-BE49-F238E27FC236}">
                <a16:creationId xmlns:a16="http://schemas.microsoft.com/office/drawing/2014/main" id="{452F8417-9367-4869-80EC-BC846F18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checkpoint-label">
            <a:extLst xmlns:a="http://schemas.openxmlformats.org/drawingml/2006/main">
              <a:ext uri="{FF2B5EF4-FFF2-40B4-BE49-F238E27FC236}">
                <a16:creationId xmlns:a16="http://schemas.microsoft.com/office/drawing/2014/main" id="{030CDAAE-759F-4C59-895D-CC7926EA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Checkpoint</a:t>
            </a:r>
          </a:p>
        </p:txBody>
      </p:sp>
      <p:sp>
        <p:nvSpPr>
          <p:cNvPr id="20" name="story-trigger-label">
            <a:extLst xmlns:a="http://schemas.openxmlformats.org/drawingml/2006/main">
              <a:ext uri="{FF2B5EF4-FFF2-40B4-BE49-F238E27FC236}">
                <a16:creationId xmlns:a16="http://schemas.microsoft.com/office/drawing/2014/main" id="{472E5567-888F-4FC6-AF24-4D2DB03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Story Trigger</a:t>
            </a:r>
          </a:p>
        </p:txBody>
      </p:sp>
      <p:sp>
        <p:nvSpPr>
          <p:cNvPr id="21" name="ally-move-label">
            <a:extLst xmlns:a="http://schemas.openxmlformats.org/drawingml/2006/main">
              <a:ext uri="{FF2B5EF4-FFF2-40B4-BE49-F238E27FC236}">
                <a16:creationId xmlns:a16="http://schemas.microsoft.com/office/drawing/2014/main" id="{5B2B18AC-7FD3-415D-84AA-AA443922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Ally Move</a:t>
            </a:r>
          </a:p>
        </p:txBody>
      </p:sp>
      <p:sp>
        <p:nvSpPr>
          <p:cNvPr id="22" name="image-intent-strip-bg">
            <a:extLst xmlns:a="http://schemas.openxmlformats.org/drawingml/2006/main">
              <a:ext uri="{FF2B5EF4-FFF2-40B4-BE49-F238E27FC236}">
                <a16:creationId xmlns:a16="http://schemas.microsoft.com/office/drawing/2014/main" id="{284C1A9D-F2F9-4715-8F35-A6E8280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76866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image-intent-label">
            <a:extLst xmlns:a="http://schemas.openxmlformats.org/drawingml/2006/main">
              <a:ext uri="{FF2B5EF4-FFF2-40B4-BE49-F238E27FC236}">
                <a16:creationId xmlns:a16="http://schemas.microsoft.com/office/drawing/2014/main" id="{ED432164-449C-4315-8BA0-AAE7CAA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19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이미지 의도</a:t>
            </a:r>
          </a:p>
        </p:txBody>
      </p:sp>
      <p:sp>
        <p:nvSpPr>
          <p:cNvPr id="24" name="image-intent-copy">
            <a:extLst xmlns:a="http://schemas.openxmlformats.org/drawingml/2006/main">
              <a:ext uri="{FF2B5EF4-FFF2-40B4-BE49-F238E27FC236}">
                <a16:creationId xmlns:a16="http://schemas.microsoft.com/office/drawing/2014/main" id="{5AA72C14-820F-4CE4-A782-50D22CB0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198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플레이어가 체크포인트에 도착하고, 동료 캐릭터가 다음 스토리 목표로 이동하는 장면</a:t>
            </a:r>
          </a:p>
        </p:txBody>
      </p:sp>
      <p:sp>
        <p:nvSpPr>
          <p:cNvPr id="25" name="message-card-bg-separated">
            <a:extLst xmlns:a="http://schemas.openxmlformats.org/drawingml/2006/main">
              <a:ext uri="{FF2B5EF4-FFF2-40B4-BE49-F238E27FC236}">
                <a16:creationId xmlns:a16="http://schemas.microsoft.com/office/drawing/2014/main" id="{0C96349C-8DEB-4412-ADB9-D3772CAD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57350"/>
            <a:ext cx="5334000" cy="48768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message-sidebar-separated">
            <a:extLst xmlns:a="http://schemas.openxmlformats.org/drawingml/2006/main">
              <a:ext uri="{FF2B5EF4-FFF2-40B4-BE49-F238E27FC236}">
                <a16:creationId xmlns:a16="http://schemas.microsoft.com/office/drawing/2014/main" id="{D772D5CD-1C70-4099-8A28-37D05C05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57350"/>
            <a:ext cx="762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message-kicker">
            <a:extLst xmlns:a="http://schemas.openxmlformats.org/drawingml/2006/main">
              <a:ext uri="{FF2B5EF4-FFF2-40B4-BE49-F238E27FC236}">
                <a16:creationId xmlns:a16="http://schemas.microsoft.com/office/drawing/2014/main" id="{9EC5B8D1-105D-4F85-B3F9-CFDD5A0A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907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COVER MESSAGE</a:t>
            </a:r>
          </a:p>
        </p:txBody>
      </p:sp>
      <p:sp>
        <p:nvSpPr>
          <p:cNvPr id="28" name="message-title-line-1">
            <a:extLst xmlns:a="http://schemas.openxmlformats.org/drawingml/2006/main">
              <a:ext uri="{FF2B5EF4-FFF2-40B4-BE49-F238E27FC236}">
                <a16:creationId xmlns:a16="http://schemas.microsoft.com/office/drawing/2014/main" id="{1681960C-1FB1-4DD7-AB1F-075BC9E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한 장면을</a:t>
            </a:r>
          </a:p>
        </p:txBody>
      </p:sp>
      <p:sp>
        <p:nvSpPr>
          <p:cNvPr id="29" name="message-title-line-2">
            <a:extLst xmlns:a="http://schemas.openxmlformats.org/drawingml/2006/main">
              <a:ext uri="{FF2B5EF4-FFF2-40B4-BE49-F238E27FC236}">
                <a16:creationId xmlns:a16="http://schemas.microsoft.com/office/drawing/2014/main" id="{86A3131F-4AB2-4996-B2F5-44A4328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194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플레이 흐름으로</a:t>
            </a:r>
          </a:p>
        </p:txBody>
      </p:sp>
      <p:sp>
        <p:nvSpPr>
          <p:cNvPr id="30" name="message-title-line-3">
            <a:extLst xmlns:a="http://schemas.openxmlformats.org/drawingml/2006/main">
              <a:ext uri="{FF2B5EF4-FFF2-40B4-BE49-F238E27FC236}">
                <a16:creationId xmlns:a16="http://schemas.microsoft.com/office/drawing/2014/main" id="{4B4C6224-6709-4AA5-8537-3A4A5BA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290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구현한 프로젝트</a:t>
            </a:r>
          </a:p>
        </p:txBody>
      </p:sp>
      <p:sp>
        <p:nvSpPr>
          <p:cNvPr id="31" name="message-blue-rule">
            <a:extLst xmlns:a="http://schemas.openxmlformats.org/drawingml/2006/main">
              <a:ext uri="{FF2B5EF4-FFF2-40B4-BE49-F238E27FC236}">
                <a16:creationId xmlns:a16="http://schemas.microsoft.com/office/drawing/2014/main" id="{AD6B9759-EB88-45F0-A0CA-C0DF02C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719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message-body-1">
            <a:extLst xmlns:a="http://schemas.openxmlformats.org/drawingml/2006/main">
              <a:ext uri="{FF2B5EF4-FFF2-40B4-BE49-F238E27FC236}">
                <a16:creationId xmlns:a16="http://schemas.microsoft.com/office/drawing/2014/main" id="{1D03CBAE-3213-4132-ADB9-28F0468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577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콜오브듀티 모던워페어3의 에펠탑 미션 장면을</a:t>
            </a:r>
          </a:p>
        </p:txBody>
      </p:sp>
      <p:sp>
        <p:nvSpPr>
          <p:cNvPr id="33" name="message-body-2">
            <a:extLst xmlns:a="http://schemas.openxmlformats.org/drawingml/2006/main">
              <a:ext uri="{FF2B5EF4-FFF2-40B4-BE49-F238E27FC236}">
                <a16:creationId xmlns:a16="http://schemas.microsoft.com/office/drawing/2014/main" id="{09242F11-FDCF-4539-A4FD-601B7ACC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72025"/>
            <a:ext cx="464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모작하며, 특정 체크포인트 도달 이후 동료 캐릭터가</a:t>
            </a:r>
          </a:p>
        </p:txBody>
      </p:sp>
      <p:sp>
        <p:nvSpPr>
          <p:cNvPr id="34" name="message-body-3">
            <a:extLst xmlns:a="http://schemas.openxmlformats.org/drawingml/2006/main">
              <a:ext uri="{FF2B5EF4-FFF2-40B4-BE49-F238E27FC236}">
                <a16:creationId xmlns:a16="http://schemas.microsoft.com/office/drawing/2014/main" id="{2BED6E71-17EE-4171-870C-745CA112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86350"/>
            <a:ext cx="464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다음 목표로 이동하고 협력하는 스토리 흐름을 구현.</a:t>
            </a:r>
          </a:p>
        </p:txBody>
      </p:sp>
      <p:sp>
        <p:nvSpPr>
          <p:cNvPr id="35" name="message-highlight-1">
            <a:extLst xmlns:a="http://schemas.openxmlformats.org/drawingml/2006/main">
              <a:ext uri="{FF2B5EF4-FFF2-40B4-BE49-F238E27FC236}">
                <a16:creationId xmlns:a16="http://schemas.microsoft.com/office/drawing/2014/main" id="{E554A65E-11FE-42F1-A7DB-5D6B79E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48325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단순한 좌표 이동이 아니라,</a:t>
            </a:r>
          </a:p>
        </p:txBody>
      </p:sp>
      <p:sp>
        <p:nvSpPr>
          <p:cNvPr id="36" name="message-highlight-2">
            <a:extLst xmlns:a="http://schemas.openxmlformats.org/drawingml/2006/main">
              <a:ext uri="{FF2B5EF4-FFF2-40B4-BE49-F238E27FC236}">
                <a16:creationId xmlns:a16="http://schemas.microsoft.com/office/drawing/2014/main" id="{A76218EF-4F98-4975-8EE5-3DC53F17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9817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레벨과 스토리에 맞춰 시각적으로 조정 가능한 구조를 지향.</a:t>
            </a:r>
          </a:p>
        </p:txBody>
      </p:sp>
      <p:sp>
        <p:nvSpPr>
          <p:cNvPr id="37" name="bottom-card-01-bg">
            <a:extLst xmlns:a="http://schemas.openxmlformats.org/drawingml/2006/main">
              <a:ext uri="{FF2B5EF4-FFF2-40B4-BE49-F238E27FC236}">
                <a16:creationId xmlns:a16="http://schemas.microsoft.com/office/drawing/2014/main" id="{7F6BC791-370A-4162-A331-3600FDC2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34200"/>
            <a:ext cx="4362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bottom-card-01-num">
            <a:extLst xmlns:a="http://schemas.openxmlformats.org/drawingml/2006/main">
              <a:ext uri="{FF2B5EF4-FFF2-40B4-BE49-F238E27FC236}">
                <a16:creationId xmlns:a16="http://schemas.microsoft.com/office/drawing/2014/main" id="{736017CF-5961-4AA1-ADF6-0B7C0CA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818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9" name="bottom-card-01-title">
            <a:extLst xmlns:a="http://schemas.openxmlformats.org/drawingml/2006/main">
              <a:ext uri="{FF2B5EF4-FFF2-40B4-BE49-F238E27FC236}">
                <a16:creationId xmlns:a16="http://schemas.microsoft.com/office/drawing/2014/main" id="{C72D2D31-54BD-4644-906B-1053A1E2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181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스토리 체크포인트 기반 이동</a:t>
            </a:r>
          </a:p>
        </p:txBody>
      </p:sp>
      <p:sp>
        <p:nvSpPr>
          <p:cNvPr id="40" name="bottom-card-01-body-1">
            <a:extLst xmlns:a="http://schemas.openxmlformats.org/drawingml/2006/main">
              <a:ext uri="{FF2B5EF4-FFF2-40B4-BE49-F238E27FC236}">
                <a16:creationId xmlns:a16="http://schemas.microsoft.com/office/drawing/2014/main" id="{D763FFCD-E5E3-4516-BE0C-10C743C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247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플레이어 도착 지점을 기준으로 동료 캐릭터의</a:t>
            </a:r>
          </a:p>
        </p:txBody>
      </p:sp>
      <p:sp>
        <p:nvSpPr>
          <p:cNvPr id="41" name="bottom-card-01-body-2">
            <a:extLst xmlns:a="http://schemas.openxmlformats.org/drawingml/2006/main">
              <a:ext uri="{FF2B5EF4-FFF2-40B4-BE49-F238E27FC236}">
                <a16:creationId xmlns:a16="http://schemas.microsoft.com/office/drawing/2014/main" id="{A67656BC-8613-48B7-BA30-73FDDC97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819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다음 목표 이동과 협력 흐름을 연결</a:t>
            </a:r>
          </a:p>
        </p:txBody>
      </p:sp>
      <p:sp>
        <p:nvSpPr>
          <p:cNvPr id="42" name="bottom-card-02-bg">
            <a:extLst xmlns:a="http://schemas.openxmlformats.org/drawingml/2006/main">
              <a:ext uri="{FF2B5EF4-FFF2-40B4-BE49-F238E27FC236}">
                <a16:creationId xmlns:a16="http://schemas.microsoft.com/office/drawing/2014/main" id="{7BFE000A-C42A-4F34-9B05-D2E5A97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34200"/>
            <a:ext cx="4362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bottom-card-02-num">
            <a:extLst xmlns:a="http://schemas.openxmlformats.org/drawingml/2006/main">
              <a:ext uri="{FF2B5EF4-FFF2-40B4-BE49-F238E27FC236}">
                <a16:creationId xmlns:a16="http://schemas.microsoft.com/office/drawing/2014/main" id="{28136936-96BB-4381-8EAA-E6A0062B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1818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4" name="bottom-card-02-title">
            <a:extLst xmlns:a="http://schemas.openxmlformats.org/drawingml/2006/main">
              <a:ext uri="{FF2B5EF4-FFF2-40B4-BE49-F238E27FC236}">
                <a16:creationId xmlns:a16="http://schemas.microsoft.com/office/drawing/2014/main" id="{B3836743-DBE9-4FAD-92FD-8B4B2B9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181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물리 기반 사격감 보정</a:t>
            </a:r>
          </a:p>
        </p:txBody>
      </p:sp>
      <p:sp>
        <p:nvSpPr>
          <p:cNvPr id="45" name="bottom-card-02-body-1">
            <a:extLst xmlns:a="http://schemas.openxmlformats.org/drawingml/2006/main">
              <a:ext uri="{FF2B5EF4-FFF2-40B4-BE49-F238E27FC236}">
                <a16:creationId xmlns:a16="http://schemas.microsoft.com/office/drawing/2014/main" id="{8591ECB9-3414-4C39-B877-9666743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5247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탄환을 단순 좌표 이동·트레이스만으로</a:t>
            </a:r>
          </a:p>
        </p:txBody>
      </p:sp>
      <p:sp>
        <p:nvSpPr>
          <p:cNvPr id="46" name="bottom-card-02-body-2">
            <a:extLst xmlns:a="http://schemas.openxmlformats.org/drawingml/2006/main">
              <a:ext uri="{FF2B5EF4-FFF2-40B4-BE49-F238E27FC236}">
                <a16:creationId xmlns:a16="http://schemas.microsoft.com/office/drawing/2014/main" id="{EFCF9344-DC74-4A95-8B3B-7CDE5EE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7819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끝내지 않고 물리 수식과 계수를 고려</a:t>
            </a:r>
          </a:p>
        </p:txBody>
      </p:sp>
      <p:sp>
        <p:nvSpPr>
          <p:cNvPr id="47" name="bottom-card-03-bg">
            <a:extLst xmlns:a="http://schemas.openxmlformats.org/drawingml/2006/main">
              <a:ext uri="{FF2B5EF4-FFF2-40B4-BE49-F238E27FC236}">
                <a16:creationId xmlns:a16="http://schemas.microsoft.com/office/drawing/2014/main" id="{605E5B1C-33E0-4A8A-9B8E-AEA857B0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934200"/>
            <a:ext cx="4362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8" name="bottom-card-03-num">
            <a:extLst xmlns:a="http://schemas.openxmlformats.org/drawingml/2006/main">
              <a:ext uri="{FF2B5EF4-FFF2-40B4-BE49-F238E27FC236}">
                <a16:creationId xmlns:a16="http://schemas.microsoft.com/office/drawing/2014/main" id="{10C784BB-D4D3-4564-9549-29E0F6D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1818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9" name="bottom-card-03-title">
            <a:extLst xmlns:a="http://schemas.openxmlformats.org/drawingml/2006/main">
              <a:ext uri="{FF2B5EF4-FFF2-40B4-BE49-F238E27FC236}">
                <a16:creationId xmlns:a16="http://schemas.microsoft.com/office/drawing/2014/main" id="{E8205172-CA33-41DA-9E5B-8D22DB4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181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레벨별 작업량 한계 대응</a:t>
            </a:r>
          </a:p>
        </p:txBody>
      </p:sp>
      <p:sp>
        <p:nvSpPr>
          <p:cNvPr id="50" name="bottom-card-03-body-1">
            <a:extLst xmlns:a="http://schemas.openxmlformats.org/drawingml/2006/main">
              <a:ext uri="{FF2B5EF4-FFF2-40B4-BE49-F238E27FC236}">
                <a16:creationId xmlns:a16="http://schemas.microsoft.com/office/drawing/2014/main" id="{44289218-4E55-4A17-BE3B-BDB2F4F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5247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통짜 코드 대신 레벨별 이동 흐름을 보며</a:t>
            </a:r>
          </a:p>
        </p:txBody>
      </p:sp>
      <p:sp>
        <p:nvSpPr>
          <p:cNvPr id="51" name="bottom-card-03-body-2">
            <a:extLst xmlns:a="http://schemas.openxmlformats.org/drawingml/2006/main">
              <a:ext uri="{FF2B5EF4-FFF2-40B4-BE49-F238E27FC236}">
                <a16:creationId xmlns:a16="http://schemas.microsoft.com/office/drawing/2014/main" id="{53D62936-FAA1-42B5-83F9-41F8D5F4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77819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배치·조정할 수 있는 툴형 뼈대를 지향</a:t>
            </a:r>
          </a:p>
        </p:txBody>
      </p:sp>
      <p:sp>
        <p:nvSpPr>
          <p:cNvPr id="5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9F787A-9B8E-4970-84CC-984A5D0C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48650"/>
            <a:ext cx="138874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2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11918B77-5AA8-44A7-AF7D-530390B7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43900"/>
            <a:ext cx="1181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표지 구성 방향: 실제 프로젝트 스크린샷을 중심 증거로 두고, 오른쪽에는 “무엇을 구현했는가”보다 “왜 그렇게 구현했는가”를 먼저 전달</a:t>
            </a:r>
          </a:p>
        </p:txBody>
      </p:sp>
    </p:spTree>
    <p:extLst>
      <p:ext uri="{BB962C8B-B14F-4D97-AF65-F5344CB8AC3E}">
        <p14:creationId xmlns:p14="http://schemas.microsoft.com/office/powerpoint/2010/main" val="8669045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bg">
            <a:extLst xmlns:a="http://schemas.openxmlformats.org/drawingml/2006/main">
              <a:ext uri="{FF2B5EF4-FFF2-40B4-BE49-F238E27FC236}">
                <a16:creationId xmlns:a16="http://schemas.microsoft.com/office/drawing/2014/main" id="{F41DE195-5203-42D9-AA90-9436041C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resource-title">
            <a:extLst xmlns:a="http://schemas.openxmlformats.org/drawingml/2006/main">
              <a:ext uri="{FF2B5EF4-FFF2-40B4-BE49-F238E27FC236}">
                <a16:creationId xmlns:a16="http://schemas.microsoft.com/office/drawing/2014/main" id="{BACA3672-0C98-4B43-8024-61CD9CB8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표지 슬라이드 편집용 구성요소</a:t>
            </a:r>
          </a:p>
        </p:txBody>
      </p:sp>
      <p:sp>
        <p:nvSpPr>
          <p:cNvPr id="3" name="resource-subtitle">
            <a:extLst xmlns:a="http://schemas.openxmlformats.org/drawingml/2006/main">
              <a:ext uri="{FF2B5EF4-FFF2-40B4-BE49-F238E27FC236}">
                <a16:creationId xmlns:a16="http://schemas.microsoft.com/office/drawing/2014/main" id="{24259681-41D3-43AD-8F25-21A02AEA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아래 요소들은 배경 카드 / 텍스트박스 / 라인 / 노드가 분리되어 있어 다른 슬라이드로 복사해 재작업하기 쉽습니다.</a:t>
            </a:r>
          </a:p>
        </p:txBody>
      </p:sp>
      <p:sp>
        <p:nvSpPr>
          <p:cNvPr id="4" name="section-01-label">
            <a:extLst xmlns:a="http://schemas.openxmlformats.org/drawingml/2006/main">
              <a:ext uri="{FF2B5EF4-FFF2-40B4-BE49-F238E27FC236}">
                <a16:creationId xmlns:a16="http://schemas.microsoft.com/office/drawing/2014/main" id="{FA1821EF-EF37-456A-A7B5-9BEB1DD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01. Header Bar</a:t>
            </a:r>
          </a:p>
        </p:txBody>
      </p:sp>
      <p:sp>
        <p:nvSpPr>
          <p:cNvPr id="5" name="header-sample-bg">
            <a:extLst xmlns:a="http://schemas.openxmlformats.org/drawingml/2006/main">
              <a:ext uri="{FF2B5EF4-FFF2-40B4-BE49-F238E27FC236}">
                <a16:creationId xmlns:a16="http://schemas.microsoft.com/office/drawing/2014/main" id="{5EF2CC13-D502-4A83-A17F-90C922A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657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header-sample-project">
            <a:extLst xmlns:a="http://schemas.openxmlformats.org/drawingml/2006/main">
              <a:ext uri="{FF2B5EF4-FFF2-40B4-BE49-F238E27FC236}">
                <a16:creationId xmlns:a16="http://schemas.microsoft.com/office/drawing/2014/main" id="{78835F88-3242-4377-8DA9-078B1B1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Project</a:t>
            </a:r>
          </a:p>
        </p:txBody>
      </p:sp>
      <p:sp>
        <p:nvSpPr>
          <p:cNvPr id="7" name="header-sample-number-circle">
            <a:extLst xmlns:a="http://schemas.openxmlformats.org/drawingml/2006/main">
              <a:ext uri="{FF2B5EF4-FFF2-40B4-BE49-F238E27FC236}">
                <a16:creationId xmlns:a16="http://schemas.microsoft.com/office/drawing/2014/main" id="{306A7CAB-4046-4B1A-A5BB-8B5C0FF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907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header-sample-number-text">
            <a:extLst xmlns:a="http://schemas.openxmlformats.org/drawingml/2006/main">
              <a:ext uri="{FF2B5EF4-FFF2-40B4-BE49-F238E27FC236}">
                <a16:creationId xmlns:a16="http://schemas.microsoft.com/office/drawing/2014/main" id="{3B311AE8-B402-4C8E-B912-53B457C3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header-sample-title">
            <a:extLst xmlns:a="http://schemas.openxmlformats.org/drawingml/2006/main">
              <a:ext uri="{FF2B5EF4-FFF2-40B4-BE49-F238E27FC236}">
                <a16:creationId xmlns:a16="http://schemas.microsoft.com/office/drawing/2014/main" id="{3C92F002-CEAB-406D-9FD2-3682187C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145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물리기반 FPS : MW3 모작</a:t>
            </a:r>
          </a:p>
        </p:txBody>
      </p:sp>
      <p:sp>
        <p:nvSpPr>
          <p:cNvPr id="10" name="header-note">
            <a:extLst xmlns:a="http://schemas.openxmlformats.org/drawingml/2006/main">
              <a:ext uri="{FF2B5EF4-FFF2-40B4-BE49-F238E27FC236}">
                <a16:creationId xmlns:a16="http://schemas.microsoft.com/office/drawing/2014/main" id="{7CA039BA-270F-4305-AF6C-D7351C0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검정 배경 카드와 텍스트/번호 원형을 각각 분리</a:t>
            </a:r>
          </a:p>
        </p:txBody>
      </p:sp>
      <p:sp>
        <p:nvSpPr>
          <p:cNvPr id="11" name="section-02-label">
            <a:extLst xmlns:a="http://schemas.openxmlformats.org/drawingml/2006/main">
              <a:ext uri="{FF2B5EF4-FFF2-40B4-BE49-F238E27FC236}">
                <a16:creationId xmlns:a16="http://schemas.microsoft.com/office/drawing/2014/main" id="{1453238A-F32B-475A-97DD-70FD8E47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02. Screenshot Placeholder</a:t>
            </a:r>
          </a:p>
        </p:txBody>
      </p:sp>
      <p:sp>
        <p:nvSpPr>
          <p:cNvPr id="12" name="screenshot-resource-card-bg">
            <a:extLst xmlns:a="http://schemas.openxmlformats.org/drawingml/2006/main">
              <a:ext uri="{FF2B5EF4-FFF2-40B4-BE49-F238E27FC236}">
                <a16:creationId xmlns:a16="http://schemas.microsoft.com/office/drawing/2014/main" id="{45D270C9-4663-492D-BE50-1696C78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65722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screenshot-resource-placeholder-bg">
            <a:extLst xmlns:a="http://schemas.openxmlformats.org/drawingml/2006/main">
              <a:ext uri="{FF2B5EF4-FFF2-40B4-BE49-F238E27FC236}">
                <a16:creationId xmlns:a16="http://schemas.microsoft.com/office/drawing/2014/main" id="{20E34061-15CC-44D4-8474-1C14B33B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61150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8E8E8"/>
          </a:solidFill>
          <a:ln xmlns:a="http://schemas.openxmlformats.org/drawingml/2006/main" w="19050">
            <a:solidFill>
              <a:srgbClr val="C2C2C2"/>
            </a:solidFill>
            <a:prstDash val="dash"/>
          </a:ln>
        </p:spPr>
      </p:sp>
      <p:sp>
        <p:nvSpPr>
          <p:cNvPr id="14" name="screenshot-resource-text-1">
            <a:extLst xmlns:a="http://schemas.openxmlformats.org/drawingml/2006/main">
              <a:ext uri="{FF2B5EF4-FFF2-40B4-BE49-F238E27FC236}">
                <a16:creationId xmlns:a16="http://schemas.microsoft.com/office/drawing/2014/main" id="{F930844A-594C-4A9B-B62A-9D09B54A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스크린샷 배치 영역</a:t>
            </a:r>
          </a:p>
        </p:txBody>
      </p:sp>
      <p:sp>
        <p:nvSpPr>
          <p:cNvPr id="15" name="screenshot-resource-text-2">
            <a:extLst xmlns:a="http://schemas.openxmlformats.org/drawingml/2006/main">
              <a:ext uri="{FF2B5EF4-FFF2-40B4-BE49-F238E27FC236}">
                <a16:creationId xmlns:a16="http://schemas.microsoft.com/office/drawing/2014/main" id="{2A369437-C1E3-4D93-A161-FEB69C88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인게임 컷 / 미션 장면 / 동료 캐릭터가 보이는 이미지</a:t>
            </a:r>
          </a:p>
        </p:txBody>
      </p:sp>
      <p:sp>
        <p:nvSpPr>
          <p:cNvPr id="16" name="screenshot-resource-strip-bg">
            <a:extLst xmlns:a="http://schemas.openxmlformats.org/drawingml/2006/main">
              <a:ext uri="{FF2B5EF4-FFF2-40B4-BE49-F238E27FC236}">
                <a16:creationId xmlns:a16="http://schemas.microsoft.com/office/drawing/2014/main" id="{7D363ECA-AB13-4F4A-975A-10F7520B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6115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screenshot-resource-strip-label">
            <a:extLst xmlns:a="http://schemas.openxmlformats.org/drawingml/2006/main">
              <a:ext uri="{FF2B5EF4-FFF2-40B4-BE49-F238E27FC236}">
                <a16:creationId xmlns:a16="http://schemas.microsoft.com/office/drawing/2014/main" id="{9A69D3A1-03F6-449F-8783-FEBAD71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198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이미지 의도</a:t>
            </a:r>
          </a:p>
        </p:txBody>
      </p:sp>
      <p:sp>
        <p:nvSpPr>
          <p:cNvPr id="18" name="screenshot-resource-strip-copy">
            <a:extLst xmlns:a="http://schemas.openxmlformats.org/drawingml/2006/main">
              <a:ext uri="{FF2B5EF4-FFF2-40B4-BE49-F238E27FC236}">
                <a16:creationId xmlns:a16="http://schemas.microsoft.com/office/drawing/2014/main" id="{BC4AE553-DA69-4E92-851E-35AFA20E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2198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체크포인트 도착 후 동료 캐릭터가 다음 목표로 이동하는 장면</a:t>
            </a:r>
          </a:p>
        </p:txBody>
      </p:sp>
      <p:sp>
        <p:nvSpPr>
          <p:cNvPr id="19" name="section-03-label">
            <a:extLst xmlns:a="http://schemas.openxmlformats.org/drawingml/2006/main">
              <a:ext uri="{FF2B5EF4-FFF2-40B4-BE49-F238E27FC236}">
                <a16:creationId xmlns:a16="http://schemas.microsoft.com/office/drawing/2014/main" id="{E15D6FBE-3E58-41E2-A5F9-73CC588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03. Route Overlay</a:t>
            </a:r>
          </a:p>
        </p:txBody>
      </p:sp>
      <p:sp>
        <p:nvSpPr>
          <p:cNvPr id="20" name="route-resource-bg">
            <a:extLst xmlns:a="http://schemas.openxmlformats.org/drawingml/2006/main">
              <a:ext uri="{FF2B5EF4-FFF2-40B4-BE49-F238E27FC236}">
                <a16:creationId xmlns:a16="http://schemas.microsoft.com/office/drawing/2014/main" id="{904AC293-441B-4ACD-B0B7-4FA006D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2971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route-resource-line-1">
            <a:extLst xmlns:a="http://schemas.openxmlformats.org/drawingml/2006/main">
              <a:ext uri="{FF2B5EF4-FFF2-40B4-BE49-F238E27FC236}">
                <a16:creationId xmlns:a16="http://schemas.microsoft.com/office/drawing/2014/main" id="{FE5D5ED1-0037-4599-82AA-F3DDEDB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3462">
            <a:off x="8286750" y="2909888"/>
            <a:ext cx="110850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22" name="route-resource-line-2">
            <a:extLst xmlns:a="http://schemas.openxmlformats.org/drawingml/2006/main">
              <a:ext uri="{FF2B5EF4-FFF2-40B4-BE49-F238E27FC236}">
                <a16:creationId xmlns:a16="http://schemas.microsoft.com/office/drawing/2014/main" id="{C186CFED-F620-4D1C-816A-8F03B28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08085">
            <a:off x="9334500" y="2547938"/>
            <a:ext cx="117975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24AD8"/>
            </a:solidFill>
          </a:ln>
        </p:spPr>
      </p:sp>
      <p:sp>
        <p:nvSpPr>
          <p:cNvPr id="23" name="route-resource-dot-1">
            <a:extLst xmlns:a="http://schemas.openxmlformats.org/drawingml/2006/main">
              <a:ext uri="{FF2B5EF4-FFF2-40B4-BE49-F238E27FC236}">
                <a16:creationId xmlns:a16="http://schemas.microsoft.com/office/drawing/2014/main" id="{B694EE5F-2F66-49C5-9538-F8ABBDEB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09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route-resource-dot-2">
            <a:extLst xmlns:a="http://schemas.openxmlformats.org/drawingml/2006/main">
              <a:ext uri="{FF2B5EF4-FFF2-40B4-BE49-F238E27FC236}">
                <a16:creationId xmlns:a16="http://schemas.microsoft.com/office/drawing/2014/main" id="{86D52EC4-8C29-4906-AC18-AFF3BE66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47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route-resource-dot-3">
            <a:extLst xmlns:a="http://schemas.openxmlformats.org/drawingml/2006/main">
              <a:ext uri="{FF2B5EF4-FFF2-40B4-BE49-F238E27FC236}">
                <a16:creationId xmlns:a16="http://schemas.microsoft.com/office/drawing/2014/main" id="{4E2DBE85-EB08-4139-AA29-7AE11EC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09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route-resource-label-1">
            <a:extLst xmlns:a="http://schemas.openxmlformats.org/drawingml/2006/main">
              <a:ext uri="{FF2B5EF4-FFF2-40B4-BE49-F238E27FC236}">
                <a16:creationId xmlns:a16="http://schemas.microsoft.com/office/drawing/2014/main" id="{39D587FD-DEA5-43A9-BCA4-ACB4898D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Checkpoint</a:t>
            </a:r>
          </a:p>
        </p:txBody>
      </p:sp>
      <p:sp>
        <p:nvSpPr>
          <p:cNvPr id="27" name="route-resource-label-2">
            <a:extLst xmlns:a="http://schemas.openxmlformats.org/drawingml/2006/main">
              <a:ext uri="{FF2B5EF4-FFF2-40B4-BE49-F238E27FC236}">
                <a16:creationId xmlns:a16="http://schemas.microsoft.com/office/drawing/2014/main" id="{1E022695-7C4C-403C-833E-7D505EED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Story Trigger</a:t>
            </a:r>
          </a:p>
        </p:txBody>
      </p:sp>
      <p:sp>
        <p:nvSpPr>
          <p:cNvPr id="28" name="route-resource-label-3">
            <a:extLst xmlns:a="http://schemas.openxmlformats.org/drawingml/2006/main">
              <a:ext uri="{FF2B5EF4-FFF2-40B4-BE49-F238E27FC236}">
                <a16:creationId xmlns:a16="http://schemas.microsoft.com/office/drawing/2014/main" id="{C0B7FCEB-9680-4B02-B9EE-D760999A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6A0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36A00"/>
                </a:solidFill>
                <a:latin typeface="Pretendard"/>
                <a:ea typeface="Pretendard"/>
                <a:cs typeface="Pretendard"/>
              </a:rPr>
              <a:t>Ally Move</a:t>
            </a:r>
          </a:p>
        </p:txBody>
      </p:sp>
      <p:sp>
        <p:nvSpPr>
          <p:cNvPr id="29" name="route-note">
            <a:extLst xmlns:a="http://schemas.openxmlformats.org/drawingml/2006/main">
              <a:ext uri="{FF2B5EF4-FFF2-40B4-BE49-F238E27FC236}">
                <a16:creationId xmlns:a16="http://schemas.microsoft.com/office/drawing/2014/main" id="{DF04F369-D803-4E49-8B0E-A9CA5244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라인은 구간별 도형, 노드는 원형 도형, 라벨은 별도 텍스트박스</a:t>
            </a:r>
          </a:p>
        </p:txBody>
      </p:sp>
      <p:sp>
        <p:nvSpPr>
          <p:cNvPr id="30" name="section-04-label">
            <a:extLst xmlns:a="http://schemas.openxmlformats.org/drawingml/2006/main">
              <a:ext uri="{FF2B5EF4-FFF2-40B4-BE49-F238E27FC236}">
                <a16:creationId xmlns:a16="http://schemas.microsoft.com/office/drawing/2014/main" id="{F1B61E62-1ED7-4744-B455-C4757764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04-A. Highlight Card / 일체형</a:t>
            </a:r>
          </a:p>
        </p:txBody>
      </p:sp>
      <p:sp>
        <p:nvSpPr>
          <p:cNvPr id="31" name="integrated-highlight-blue-base">
            <a:extLst xmlns:a="http://schemas.openxmlformats.org/drawingml/2006/main">
              <a:ext uri="{FF2B5EF4-FFF2-40B4-BE49-F238E27FC236}">
                <a16:creationId xmlns:a16="http://schemas.microsoft.com/office/drawing/2014/main" id="{B0C96C6B-8218-4A0C-8BF1-8E98A75F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581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integrated-highlight-white-body">
            <a:extLst xmlns:a="http://schemas.openxmlformats.org/drawingml/2006/main">
              <a:ext uri="{FF2B5EF4-FFF2-40B4-BE49-F238E27FC236}">
                <a16:creationId xmlns:a16="http://schemas.microsoft.com/office/drawing/2014/main" id="{2DF073F8-8ABE-4216-90FC-25DD8AC4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5734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integrated-highlight-kicker">
            <a:extLst xmlns:a="http://schemas.openxmlformats.org/drawingml/2006/main">
              <a:ext uri="{FF2B5EF4-FFF2-40B4-BE49-F238E27FC236}">
                <a16:creationId xmlns:a16="http://schemas.microsoft.com/office/drawing/2014/main" id="{17767863-D684-4872-AF5D-2F32C95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COVER MESSAGE</a:t>
            </a:r>
          </a:p>
        </p:txBody>
      </p:sp>
      <p:sp>
        <p:nvSpPr>
          <p:cNvPr id="34" name="integrated-highlight-title">
            <a:extLst xmlns:a="http://schemas.openxmlformats.org/drawingml/2006/main">
              <a:ext uri="{FF2B5EF4-FFF2-40B4-BE49-F238E27FC236}">
                <a16:creationId xmlns:a16="http://schemas.microsoft.com/office/drawing/2014/main" id="{96207A95-C000-4553-8C2C-3F83197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625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한 장면을 플레이 흐름으로</a:t>
            </a:r>
          </a:p>
          <a:p xmlns:a="http://schemas.openxmlformats.org/drawingml/2006/main">
            <a:pPr algn="l">
              <a:defRPr sz="210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구현한 프로젝트</a:t>
            </a:r>
          </a:p>
        </p:txBody>
      </p:sp>
      <p:sp>
        <p:nvSpPr>
          <p:cNvPr id="35" name="integrated-highlight-rule">
            <a:extLst xmlns:a="http://schemas.openxmlformats.org/drawingml/2006/main">
              <a:ext uri="{FF2B5EF4-FFF2-40B4-BE49-F238E27FC236}">
                <a16:creationId xmlns:a16="http://schemas.microsoft.com/office/drawing/2014/main" id="{A48E55A6-8959-4670-AEF5-5651E789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05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integrated-highlight-note">
            <a:extLst xmlns:a="http://schemas.openxmlformats.org/drawingml/2006/main">
              <a:ext uri="{FF2B5EF4-FFF2-40B4-BE49-F238E27FC236}">
                <a16:creationId xmlns:a16="http://schemas.microsoft.com/office/drawing/2014/main" id="{AFD164DF-8F0A-4B6A-AA2B-A241DE0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76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사이드바와 카드가 하나의 시각 단위처럼 붙어 있는 버전</a:t>
            </a:r>
          </a:p>
        </p:txBody>
      </p:sp>
      <p:sp>
        <p:nvSpPr>
          <p:cNvPr id="37" name="section-05-label">
            <a:extLst xmlns:a="http://schemas.openxmlformats.org/drawingml/2006/main">
              <a:ext uri="{FF2B5EF4-FFF2-40B4-BE49-F238E27FC236}">
                <a16:creationId xmlns:a16="http://schemas.microsoft.com/office/drawing/2014/main" id="{3BFC4D0B-43A8-4B21-84F5-8AAB9319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705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04-B. Highlight Card / 분리형</a:t>
            </a:r>
          </a:p>
        </p:txBody>
      </p:sp>
      <p:sp>
        <p:nvSpPr>
          <p:cNvPr id="38" name="separated-highlight-sidebar">
            <a:extLst xmlns:a="http://schemas.openxmlformats.org/drawingml/2006/main">
              <a:ext uri="{FF2B5EF4-FFF2-40B4-BE49-F238E27FC236}">
                <a16:creationId xmlns:a16="http://schemas.microsoft.com/office/drawing/2014/main" id="{5FE48BA6-AC38-469A-8334-E02CC7CE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048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4A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9" name="separated-highlight-card-bg">
            <a:extLst xmlns:a="http://schemas.openxmlformats.org/drawingml/2006/main">
              <a:ext uri="{FF2B5EF4-FFF2-40B4-BE49-F238E27FC236}">
                <a16:creationId xmlns:a16="http://schemas.microsoft.com/office/drawing/2014/main" id="{991AC1E9-8182-487B-B64E-FFA2D21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048500"/>
            <a:ext cx="5543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separated-highlight-kicker">
            <a:extLst xmlns:a="http://schemas.openxmlformats.org/drawingml/2006/main">
              <a:ext uri="{FF2B5EF4-FFF2-40B4-BE49-F238E27FC236}">
                <a16:creationId xmlns:a16="http://schemas.microsoft.com/office/drawing/2014/main" id="{AB0A7648-FEE7-4380-8F87-EB3B687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239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COVER MESSAGE</a:t>
            </a:r>
          </a:p>
        </p:txBody>
      </p:sp>
      <p:sp>
        <p:nvSpPr>
          <p:cNvPr id="41" name="separated-highlight-title">
            <a:extLst xmlns:a="http://schemas.openxmlformats.org/drawingml/2006/main">
              <a:ext uri="{FF2B5EF4-FFF2-40B4-BE49-F238E27FC236}">
                <a16:creationId xmlns:a16="http://schemas.microsoft.com/office/drawing/2014/main" id="{84E24339-F864-4537-953A-B241C7D2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5247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카드 배경과 사이드바를 따로 복사할 수 있는 버전</a:t>
            </a:r>
          </a:p>
        </p:txBody>
      </p:sp>
      <p:sp>
        <p:nvSpPr>
          <p:cNvPr id="42" name="section-06-label">
            <a:extLst xmlns:a="http://schemas.openxmlformats.org/drawingml/2006/main">
              <a:ext uri="{FF2B5EF4-FFF2-40B4-BE49-F238E27FC236}">
                <a16:creationId xmlns:a16="http://schemas.microsoft.com/office/drawing/2014/main" id="{6AD4B538-3E6B-4E82-A31A-9C90F868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675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05. Bottom Summary Card</a:t>
            </a:r>
          </a:p>
        </p:txBody>
      </p:sp>
      <p:sp>
        <p:nvSpPr>
          <p:cNvPr id="43" name="bottom-resource-card-bg">
            <a:extLst xmlns:a="http://schemas.openxmlformats.org/drawingml/2006/main">
              <a:ext uri="{FF2B5EF4-FFF2-40B4-BE49-F238E27FC236}">
                <a16:creationId xmlns:a16="http://schemas.microsoft.com/office/drawing/2014/main" id="{4ACED4E1-1157-4F27-B814-B13B126A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0450"/>
            <a:ext cx="43624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bottom-resource-num">
            <a:extLst xmlns:a="http://schemas.openxmlformats.org/drawingml/2006/main">
              <a:ext uri="{FF2B5EF4-FFF2-40B4-BE49-F238E27FC236}">
                <a16:creationId xmlns:a16="http://schemas.microsoft.com/office/drawing/2014/main" id="{35B2EA58-27F5-4A8F-A242-D1144157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6200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5" name="bottom-resource-title">
            <a:extLst xmlns:a="http://schemas.openxmlformats.org/drawingml/2006/main">
              <a:ext uri="{FF2B5EF4-FFF2-40B4-BE49-F238E27FC236}">
                <a16:creationId xmlns:a16="http://schemas.microsoft.com/office/drawing/2014/main" id="{AE3EF2DA-B7E6-4FEE-A763-1E51D35F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00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스토리 체크포인트 기반 이동</a:t>
            </a:r>
          </a:p>
        </p:txBody>
      </p:sp>
      <p:sp>
        <p:nvSpPr>
          <p:cNvPr id="46" name="bottom-resource-body">
            <a:extLst xmlns:a="http://schemas.openxmlformats.org/drawingml/2006/main">
              <a:ext uri="{FF2B5EF4-FFF2-40B4-BE49-F238E27FC236}">
                <a16:creationId xmlns:a16="http://schemas.microsoft.com/office/drawing/2014/main" id="{7DFA11C0-8FE8-4283-A05A-5461737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6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플레이어 도착 지점을 기준으로 다음 목표 이동과 협력 흐름을 연결</a:t>
            </a:r>
          </a:p>
        </p:txBody>
      </p:sp>
      <p:sp>
        <p:nvSpPr>
          <p:cNvPr id="4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12627A1-3B5D-4D7C-BF3F-6C86ACD1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715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36363"/>
                </a:solidFill>
                <a:latin typeface="Pretendard"/>
                <a:ea typeface="Pretendard"/>
                <a:cs typeface="Pretendard"/>
              </a:rPr>
              <a:t>숫자 / 제목 / 본문 / 카드 배경이 전부 분리</a:t>
            </a:r>
          </a:p>
        </p:txBody>
      </p:sp>
    </p:spTree>
    <p:extLst>
      <p:ext uri="{BB962C8B-B14F-4D97-AF65-F5344CB8AC3E}">
        <p14:creationId xmlns:p14="http://schemas.microsoft.com/office/powerpoint/2010/main" val="595296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2026-06-11T11:26:25.6100000Z</dcterms:created>
  <dcterms:modified xsi:type="dcterms:W3CDTF">2026-06-11T11:26:25.6100000Z</dcterms:modified>
</coreProperties>
</file>