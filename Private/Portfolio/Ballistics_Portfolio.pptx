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64008" cy="2926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972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Ballistics System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8580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 기반 탄도 시스템  |  UE5 C++  |  CoD Clone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UActorComponent 직접 상속  ·  SweepSingleByChannel  ·  오일러 적분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3474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114800"/>
            <a:ext cx="8229600" cy="22860"/>
          </a:xfrm>
          <a:prstGeom prst="rect">
            <a:avLst/>
          </a:prstGeom>
          <a:solidFill>
            <a:srgbClr val="3A4F63"/>
          </a:solidFill>
          <a:ln w="12700">
            <a:solidFill>
              <a:srgbClr val="3A4F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 Engine 5  ·  C++  ·  FPP Bundle Test Environment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0" y="1097280"/>
            <a:ext cx="155448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22030"/>
          </a:solidFill>
          <a:ln w="12700">
            <a:solidFill>
              <a:srgbClr val="12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228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직접 구현인가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3840480" cy="4114800"/>
          </a:xfrm>
          <a:prstGeom prst="rect">
            <a:avLst/>
          </a:prstGeom>
          <a:solidFill>
            <a:srgbClr val="122030"/>
          </a:solidFill>
          <a:ln w="12700">
            <a:solidFill>
              <a:srgbClr val="3A4F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31520"/>
            <a:ext cx="3840480" cy="365760"/>
          </a:xfrm>
          <a:prstGeom prst="rect">
            <a:avLst/>
          </a:prstGeom>
          <a:solidFill>
            <a:srgbClr val="3A4F63"/>
          </a:solidFill>
          <a:ln w="12700">
            <a:solidFill>
              <a:srgbClr val="3A4F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31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Default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컴포넌트가 알아서 처리
</a:t>
            </a:r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ProjectileMovement-&gt;</a:t>
            </a:r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InitialSpeed</a:t>
            </a:r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3000.0f;
</a:t>
            </a:r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ProjectileMovement-&gt;</a:t>
            </a:r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MaxSpeed</a:t>
            </a:r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3000.0f;
</a:t>
            </a:r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ProjectileMovement-&gt;</a:t>
            </a:r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bShouldBounce</a:t>
            </a:r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true;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동작 불투명
</a:t>
            </a:r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범위 내에서만 제어 가능
</a:t>
            </a:r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 모델 자체 수정 불가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606040"/>
            <a:ext cx="457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0832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937760" y="731520"/>
            <a:ext cx="3840480" cy="4114800"/>
          </a:xfrm>
          <a:prstGeom prst="rect">
            <a:avLst/>
          </a:prstGeom>
          <a:solidFill>
            <a:srgbClr val="12203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731520"/>
            <a:ext cx="384048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731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UCOD_PMC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12801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탄도 공식을 직접 코드로
</a:t>
            </a:r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 판정 직접 호출
</a:t>
            </a:r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엔진 컴포넌트 미상속
</a:t>
            </a:r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UActorComponent 직접 출발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74920" y="3063240"/>
            <a:ext cx="3566160" cy="1463040"/>
          </a:xfrm>
          <a:prstGeom prst="rect">
            <a:avLst/>
          </a:prstGeom>
          <a:solidFill>
            <a:srgbClr val="0A1520"/>
          </a:solidFill>
          <a:ln w="12700">
            <a:solidFill>
              <a:srgbClr val="3A4F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320040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UProjectileMovementComponent 교체
</a:t>
            </a:r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ProjectileMovement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CreateDefaultSubobject&lt;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UCOD_ProjectileMovementComponent</a:t>
            </a:r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&gt;(TEXT(...));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22030"/>
          </a:solidFill>
          <a:ln w="12700">
            <a:solidFill>
              <a:srgbClr val="12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228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SetActorLocation의 한계  —  왜 Sweep인가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8412480" cy="1691640"/>
          </a:xfrm>
          <a:prstGeom prst="rect">
            <a:avLst/>
          </a:prstGeom>
          <a:solidFill>
            <a:srgbClr val="12203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SetActorLocation  —  텔레포트 방식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143000"/>
            <a:ext cx="365760" cy="365760"/>
          </a:xfrm>
          <a:prstGeom prst="ellipse">
            <a:avLst/>
          </a:prstGeom>
          <a:solidFill>
            <a:srgbClr val="3A4F63"/>
          </a:solidFill>
          <a:ln w="12700">
            <a:solidFill>
              <a:srgbClr val="A8B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98448" y="1307592"/>
            <a:ext cx="411480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51560"/>
            <a:ext cx="109728" cy="548640"/>
          </a:xfrm>
          <a:prstGeom prst="rect">
            <a:avLst/>
          </a:prstGeom>
          <a:solidFill>
            <a:srgbClr val="A8B8C8"/>
          </a:solidFill>
          <a:ln w="12700">
            <a:solidFill>
              <a:srgbClr val="A8B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0680" y="1143000"/>
            <a:ext cx="365760" cy="365760"/>
          </a:xfrm>
          <a:prstGeom prst="ellipse">
            <a:avLst/>
          </a:prstGeom>
          <a:solidFill>
            <a:srgbClr val="3A4F63"/>
          </a:solidFill>
          <a:ln w="12700">
            <a:solidFill>
              <a:srgbClr val="A8B8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t+1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15361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C8"/>
                </a:solidFill>
              </a:rPr>
              <a:t>이전 위치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0" y="15361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C8"/>
                </a:solidFill>
              </a:rPr>
              <a:t>다음 위치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28800" y="15727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구간 검사 없음 → 관통!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14600"/>
            <a:ext cx="8412480" cy="2286000"/>
          </a:xfrm>
          <a:prstGeom prst="rect">
            <a:avLst/>
          </a:prstGeom>
          <a:solidFill>
            <a:srgbClr val="12203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SweepSingleByChannel  —  경로 전체 스캔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297180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298448" y="3017520"/>
            <a:ext cx="4114800" cy="274320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2880360"/>
            <a:ext cx="109728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27248" y="2999232"/>
            <a:ext cx="347472" cy="34747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27248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40680" y="2971800"/>
            <a:ext cx="365760" cy="365760"/>
          </a:xfrm>
          <a:prstGeom prst="ellipse">
            <a:avLst/>
          </a:prstGeom>
          <a:solidFill>
            <a:srgbClr val="3A4F63"/>
          </a:solidFill>
          <a:ln w="12700">
            <a:solidFill>
              <a:srgbClr val="3A4F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3649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C8"/>
                </a:solidFill>
              </a:rPr>
              <a:t>이전 위치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99232" y="33649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</a:rPr>
              <a:t>HitResult!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03520" y="33649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F63"/>
                </a:solidFill>
              </a:rPr>
              <a:t>예상 위치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3749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위 모든 충돌체를 구형(r=5cm) 스캔으로 검사  →  고속 발사체도 관통 없음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22030"/>
          </a:solidFill>
          <a:ln w="12700">
            <a:solidFill>
              <a:srgbClr val="12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228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탄도 물리 구현  —  오일러 적분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3931920" cy="2286000"/>
          </a:xfrm>
          <a:prstGeom prst="rect">
            <a:avLst/>
          </a:prstGeom>
          <a:solidFill>
            <a:srgbClr val="12203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777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탄도식  (Prototype v1)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3657600" cy="1645920"/>
          </a:xfrm>
          <a:prstGeom prst="rect">
            <a:avLst/>
          </a:prstGeom>
          <a:solidFill>
            <a:srgbClr val="0A1520"/>
          </a:solidFill>
          <a:ln w="12700">
            <a:solidFill>
              <a:srgbClr val="3A4F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61872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V(t+dt) = V(t) + A × dt
</a:t>
            </a:r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=  { 0, 0, -GravityScale × 980 }
</a:t>
            </a:r>
            <a:pPr indent="0" marL="0">
              <a:buNone/>
            </a:pPr>
            <a:r>
              <a:rPr lang="en-US" sz="13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(단위: cm/s²)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 = V(t) × dt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685800"/>
            <a:ext cx="4297680" cy="2286000"/>
          </a:xfrm>
          <a:prstGeom prst="rect">
            <a:avLst/>
          </a:prstGeom>
          <a:solidFill>
            <a:srgbClr val="122030"/>
          </a:solidFill>
          <a:ln w="12700">
            <a:solidFill>
              <a:srgbClr val="3A4F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ApplyGravity()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170432"/>
            <a:ext cx="4023360" cy="1005840"/>
          </a:xfrm>
          <a:prstGeom prst="rect">
            <a:avLst/>
          </a:prstGeom>
          <a:solidFill>
            <a:srgbClr val="0A1520"/>
          </a:solidFill>
          <a:ln w="12700">
            <a:solidFill>
              <a:srgbClr val="3A4F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3444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FVector </a:t>
            </a:r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UCOD_PMC::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ApplyGravity()
</a:t>
            </a:r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FVector Accel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0.f, 0.f,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-GravityScale * 980.f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Accel;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224028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GravityScale</a:t>
            </a:r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직접 배율 관리 → 월드 설정에 묶이지 않음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발사체별 독립 중력 파라미터 가능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UU ≈ 1 cm / 초기속도 2000 = 초속 20m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8412480" cy="1691640"/>
          </a:xfrm>
          <a:prstGeom prst="rect">
            <a:avLst/>
          </a:prstGeom>
          <a:solidFill>
            <a:srgbClr val="122030"/>
          </a:solidFill>
          <a:ln w="12700">
            <a:solidFill>
              <a:srgbClr val="3A4F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TickComponent  —  매 프레임 흐름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47872"/>
            <a:ext cx="1874520" cy="713232"/>
          </a:xfrm>
          <a:prstGeom prst="rect">
            <a:avLst/>
          </a:prstGeom>
          <a:solidFill>
            <a:srgbClr val="3A4F63"/>
          </a:solidFill>
          <a:ln w="12700">
            <a:solidFill>
              <a:srgbClr val="3A4F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47872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TICK-1
</a:t>
            </a:r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유효성 검사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0" y="3730752"/>
            <a:ext cx="210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8C8"/>
                </a:solidFill>
              </a:rPr>
              <a:t>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496312" y="3547872"/>
            <a:ext cx="187452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96312" y="3547872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TICK-2
</a:t>
            </a:r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물리 적분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70832" y="3730752"/>
            <a:ext cx="210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8C8"/>
                </a:solidFill>
              </a:rPr>
              <a:t>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81144" y="3547872"/>
            <a:ext cx="187452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81144" y="3547872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TICK-3
</a:t>
            </a:r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Sweep 충돌 검사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55664" y="3730752"/>
            <a:ext cx="210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8C8"/>
                </a:solidFill>
              </a:rPr>
              <a:t>▶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65976" y="3547872"/>
            <a:ext cx="1874520" cy="7132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65976" y="3547872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TICK-4
</a:t>
            </a:r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HitResult 처리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 O → OnHitDelegate.Broadcast    |    충돌 X → SetWorldLocation + SetWorldRotation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22030"/>
          </a:solidFill>
          <a:ln w="12700">
            <a:solidFill>
              <a:srgbClr val="12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228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 판정  +  델리게이트 패턴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4572000" cy="4114800"/>
          </a:xfrm>
          <a:prstGeom prst="rect">
            <a:avLst/>
          </a:prstGeom>
          <a:solidFill>
            <a:srgbClr val="12203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777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SweepSingleByChannel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Chaos와의 직접 통신 — 최저 레벨 공개 API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4297680" cy="2286000"/>
          </a:xfrm>
          <a:prstGeom prst="rect">
            <a:avLst/>
          </a:prstGeom>
          <a:solidFill>
            <a:srgbClr val="0A1520"/>
          </a:solidFill>
          <a:ln w="12700">
            <a:solidFill>
              <a:srgbClr val="3A4F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FHitResult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HitResult;
</a:t>
            </a:r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bHit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GetWorld()-&gt;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SweepSingleByChannel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HitResult,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CurrentPos</a:t>
            </a:r>
            <a:pPr indent="0" marL="0">
              <a:buNone/>
            </a:pPr>
            <a:r>
              <a:rPr lang="en-US" sz="900" dirty="0">
                <a:solidFill>
                  <a:srgbClr val="5C7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// Start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7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NewPos</a:t>
            </a:r>
            <a:pPr indent="0" marL="0">
              <a:buNone/>
            </a:pPr>
            <a:r>
              <a:rPr lang="en-US" sz="900" dirty="0">
                <a:solidFill>
                  <a:srgbClr val="5C7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  // End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7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FQuat::Identity,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7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ECC_Visibility,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7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MakeSphere(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5.f</a:t>
            </a:r>
            <a:pPr indent="0" marL="0">
              <a:buNone/>
            </a:pPr>
            <a:r>
              <a:rPr lang="en-US" sz="900" dirty="0">
                <a:solidFill>
                  <a:srgbClr val="5C7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  // r=5cm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7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C7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MoveComponent() 내부에서도 이것을 호출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이보다 아래는 Chaos 블랙박스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685800"/>
            <a:ext cx="3657600" cy="4114800"/>
          </a:xfrm>
          <a:prstGeom prst="rect">
            <a:avLst/>
          </a:prstGeom>
          <a:solidFill>
            <a:srgbClr val="122030"/>
          </a:solidFill>
          <a:ln w="12700">
            <a:solidFill>
              <a:srgbClr val="3A4F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57800" y="777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델리게이트 기반 충돌 처리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57800" y="1143000"/>
            <a:ext cx="3383280" cy="822960"/>
          </a:xfrm>
          <a:prstGeom prst="rect">
            <a:avLst/>
          </a:prstGeom>
          <a:solidFill>
            <a:srgbClr val="0A1520"/>
          </a:solidFill>
          <a:ln w="12700">
            <a:solidFill>
              <a:srgbClr val="3A4F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118872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DECLARE_DYNAMIC_MULTICAST_DELEGATE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_OneParam(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FOnHitDelegate</a:t>
            </a:r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FHitResult&amp;, Hit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57800" y="2057400"/>
            <a:ext cx="329184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20574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UCOD_PMC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 감지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20840" y="249631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F63"/>
                </a:solidFill>
              </a:rPr>
              <a:t>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57800" y="2624328"/>
            <a:ext cx="3291840" cy="438912"/>
          </a:xfrm>
          <a:prstGeom prst="rect">
            <a:avLst/>
          </a:prstGeom>
          <a:solidFill>
            <a:srgbClr val="3A4F63"/>
          </a:solidFill>
          <a:ln w="12700">
            <a:solidFill>
              <a:srgbClr val="3A4F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262432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OnHitDelegate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.Broadcast()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20840" y="306324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F63"/>
                </a:solidFill>
              </a:rPr>
              <a:t>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57800" y="3191256"/>
            <a:ext cx="3291840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319125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ShooterProjectile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OnProjectileHit()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7800" y="35661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컴포넌트는 충돌 후 행동을 모른다
</a:t>
            </a:r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역할 분리, 재사용성 확보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NotifyHit 대신 커스텀 핸들러 사용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22030"/>
          </a:solidFill>
          <a:ln w="12700">
            <a:solidFill>
              <a:srgbClr val="12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228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회전 동기화  —  CalcRotation()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4572000" cy="2834640"/>
          </a:xfrm>
          <a:prstGeom prst="rect">
            <a:avLst/>
          </a:prstGeom>
          <a:solidFill>
            <a:srgbClr val="12203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777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CrossProduct 기반 직교 행렬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4297680" cy="2194560"/>
          </a:xfrm>
          <a:prstGeom prst="rect">
            <a:avLst/>
          </a:prstGeom>
          <a:solidFill>
            <a:srgbClr val="0A1520"/>
          </a:solidFill>
          <a:ln w="12700">
            <a:solidFill>
              <a:srgbClr val="3A4F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3444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FVector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 = _Velocity.</a:t>
            </a:r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GetSafeNormal();
</a:t>
            </a:r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FVector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      = FVector::</a:t>
            </a:r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UpVector;
</a:t>
            </a:r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FVector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  = FVector::
  CrossProduct(Up, Forward).
  GetSafeNormal();
</a:t>
            </a:r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  = FVector::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CrossProduct
  (Forward, Right).GetSafeNormal();
</a:t>
            </a:r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FMatrix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m(Forward, Right, Up, Zero);
</a:t>
            </a:r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m.Rotator();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20640" y="685800"/>
            <a:ext cx="3657600" cy="1325880"/>
          </a:xfrm>
          <a:prstGeom prst="rect">
            <a:avLst/>
          </a:prstGeom>
          <a:solidFill>
            <a:srgbClr val="122030"/>
          </a:solidFill>
          <a:ln w="12700">
            <a:solidFill>
              <a:srgbClr val="3A4F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57800" y="7772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Tick </a:t>
            </a:r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 벡터 방향으로 메시 회전 맞춤
</a:t>
            </a:r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→ Right → Up 재직교화 → FMatrix → FRotator
</a:t>
            </a:r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Up을 재계산하는 이유: </a:t>
            </a:r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월드 UpVector와 Forward가 완전히 수직이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아닐 수 있어 FMatrix 직교성 보장 필요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148840"/>
            <a:ext cx="3657600" cy="1371600"/>
          </a:xfrm>
          <a:prstGeom prst="rect">
            <a:avLst/>
          </a:prstGeom>
          <a:solidFill>
            <a:srgbClr val="12203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20640" y="2148840"/>
            <a:ext cx="3657600" cy="2926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2148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짐벌락 발생 조건 인지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57800" y="2542032"/>
            <a:ext cx="3383280" cy="822960"/>
          </a:xfrm>
          <a:prstGeom prst="rect">
            <a:avLst/>
          </a:prstGeom>
          <a:solidFill>
            <a:srgbClr val="0A1520"/>
          </a:solidFill>
          <a:ln w="12700">
            <a:solidFill>
              <a:srgbClr val="3A4F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25786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  = (0,0,-1)  ← 수직 낙하
UpVector = (0,0, 1)
CrossProduct → (0,0,0)  ← 영벡터
</a:t>
            </a:r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다음 단계: FQuat 교체 예정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8412480" cy="1234440"/>
          </a:xfrm>
          <a:prstGeom prst="rect">
            <a:avLst/>
          </a:prstGeom>
          <a:solidFill>
            <a:srgbClr val="09142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7307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어필 포인트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069080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40507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오일러 적분 직접 구현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4069080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40507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관통 방지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0760" y="4069080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1928" y="40507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최저 레벨 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416552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439826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UActorComponent 직접 상속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4416552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93008" y="439826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델리게이트 역할 분리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4416552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81928" y="439826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짐벌락 구조적 인지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22030"/>
          </a:solidFill>
          <a:ln w="12700">
            <a:solidFill>
              <a:srgbClr val="12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228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구조  +  현재 상태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3931920" cy="4114800"/>
          </a:xfrm>
          <a:prstGeom prst="rect">
            <a:avLst/>
          </a:prstGeom>
          <a:solidFill>
            <a:srgbClr val="122030"/>
          </a:solidFill>
          <a:ln w="12700">
            <a:solidFill>
              <a:srgbClr val="3A4F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777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상속 구조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3474720" cy="347472"/>
          </a:xfrm>
          <a:prstGeom prst="rect">
            <a:avLst/>
          </a:prstGeom>
          <a:solidFill>
            <a:srgbClr val="3A4F63"/>
          </a:solidFill>
          <a:ln w="12700">
            <a:solidFill>
              <a:srgbClr val="3A4F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704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UObjectBase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76856" y="1517904"/>
            <a:ext cx="18288" cy="365760"/>
          </a:xfrm>
          <a:prstGeom prst="rect">
            <a:avLst/>
          </a:prstGeom>
          <a:solidFill>
            <a:srgbClr val="3A4F63"/>
          </a:solidFill>
          <a:ln w="12700">
            <a:solidFill>
              <a:srgbClr val="3A4F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627632"/>
            <a:ext cx="3474720" cy="347472"/>
          </a:xfrm>
          <a:prstGeom prst="rect">
            <a:avLst/>
          </a:prstGeom>
          <a:solidFill>
            <a:srgbClr val="3A4F63"/>
          </a:solidFill>
          <a:ln w="12700">
            <a:solidFill>
              <a:srgbClr val="3A4F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276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UObjectBaseUtility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76856" y="1975104"/>
            <a:ext cx="18288" cy="365760"/>
          </a:xfrm>
          <a:prstGeom prst="rect">
            <a:avLst/>
          </a:prstGeom>
          <a:solidFill>
            <a:srgbClr val="3A4F63"/>
          </a:solidFill>
          <a:ln w="12700">
            <a:solidFill>
              <a:srgbClr val="3A4F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084832"/>
            <a:ext cx="3474720" cy="347472"/>
          </a:xfrm>
          <a:prstGeom prst="rect">
            <a:avLst/>
          </a:prstGeom>
          <a:solidFill>
            <a:srgbClr val="3A4F63"/>
          </a:solidFill>
          <a:ln w="12700">
            <a:solidFill>
              <a:srgbClr val="3A4F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0848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UObject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76856" y="2432304"/>
            <a:ext cx="18288" cy="365760"/>
          </a:xfrm>
          <a:prstGeom prst="rect">
            <a:avLst/>
          </a:prstGeom>
          <a:solidFill>
            <a:srgbClr val="3A4F63"/>
          </a:solidFill>
          <a:ln w="12700">
            <a:solidFill>
              <a:srgbClr val="3A4F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542032"/>
            <a:ext cx="3474720" cy="347472"/>
          </a:xfrm>
          <a:prstGeom prst="rect">
            <a:avLst/>
          </a:prstGeom>
          <a:solidFill>
            <a:srgbClr val="A8B8C8"/>
          </a:solidFill>
          <a:ln w="12700">
            <a:solidFill>
              <a:srgbClr val="A8B8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420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UActorComponent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76856" y="2889504"/>
            <a:ext cx="1828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090672"/>
            <a:ext cx="347472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09067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UCOD_PMC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처리하는 것들: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97764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UpdatedComponent  →  BeginPlay 직접 바인딩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23367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위치 갱신  →  SetWorldLocation 직접 호출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448970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충돌 판정  →  SweepSingleByChannel 직접 호출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80560" y="685800"/>
            <a:ext cx="4297680" cy="4114800"/>
          </a:xfrm>
          <a:prstGeom prst="rect">
            <a:avLst/>
          </a:prstGeom>
          <a:solidFill>
            <a:srgbClr val="122030"/>
          </a:solidFill>
          <a:ln w="12700">
            <a:solidFill>
              <a:srgbClr val="3A4F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63440" y="777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상태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17720" y="1188720"/>
            <a:ext cx="4114800" cy="347472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1234440"/>
            <a:ext cx="502920" cy="256032"/>
          </a:xfrm>
          <a:prstGeom prst="rect">
            <a:avLst/>
          </a:prstGeom>
          <a:solidFill>
            <a:srgbClr val="1A4A2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12344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1234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탄도 물리 (중력)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12527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오일러 적분, GravityScale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17720" y="1572768"/>
            <a:ext cx="4114800" cy="347472"/>
          </a:xfrm>
          <a:prstGeom prst="rect">
            <a:avLst/>
          </a:prstGeom>
          <a:solidFill>
            <a:srgbClr val="0F1E2D"/>
          </a:solidFill>
          <a:ln w="12700">
            <a:solidFill>
              <a:srgbClr val="0F1E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1618488"/>
            <a:ext cx="502920" cy="256032"/>
          </a:xfrm>
          <a:prstGeom prst="rect">
            <a:avLst/>
          </a:prstGeom>
          <a:solidFill>
            <a:srgbClr val="1A4A2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16184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66360" y="16184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충돌 판정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0" y="16367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SweepSingleByChannel, r=5cm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17720" y="1956816"/>
            <a:ext cx="4114800" cy="347472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17720" y="2002536"/>
            <a:ext cx="502920" cy="256032"/>
          </a:xfrm>
          <a:prstGeom prst="rect">
            <a:avLst/>
          </a:prstGeom>
          <a:solidFill>
            <a:srgbClr val="1A4A2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20025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66360" y="20025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회전 동기화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0" y="20208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CrossProduct 기반 FMatrix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17720" y="2340864"/>
            <a:ext cx="4114800" cy="347472"/>
          </a:xfrm>
          <a:prstGeom prst="rect">
            <a:avLst/>
          </a:prstGeom>
          <a:solidFill>
            <a:srgbClr val="0F1E2D"/>
          </a:solidFill>
          <a:ln w="12700">
            <a:solidFill>
              <a:srgbClr val="0F1E2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17720" y="2386584"/>
            <a:ext cx="502920" cy="256032"/>
          </a:xfrm>
          <a:prstGeom prst="rect">
            <a:avLst/>
          </a:prstGeom>
          <a:solidFill>
            <a:srgbClr val="1A4A2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0" y="23865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</a:rPr>
              <a:t>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66360" y="23865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디버그 시각화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58000" y="24048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DrawDebugLine 궤적 확인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617720" y="2724912"/>
            <a:ext cx="4114800" cy="347472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17720" y="2770632"/>
            <a:ext cx="502920" cy="256032"/>
          </a:xfrm>
          <a:prstGeom prst="rect">
            <a:avLst/>
          </a:prstGeom>
          <a:solidFill>
            <a:srgbClr val="1A4A2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17720" y="27706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</a:rPr>
              <a:t>✓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66360" y="2770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델리게이트 연동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858000" y="27889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OnHitDelegate → ShooterProjectile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617720" y="3108960"/>
            <a:ext cx="4114800" cy="347472"/>
          </a:xfrm>
          <a:prstGeom prst="rect">
            <a:avLst/>
          </a:prstGeom>
          <a:solidFill>
            <a:srgbClr val="0F1E2D"/>
          </a:solidFill>
          <a:ln w="12700">
            <a:solidFill>
              <a:srgbClr val="0F1E2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17720" y="3154680"/>
            <a:ext cx="502920" cy="256032"/>
          </a:xfrm>
          <a:prstGeom prst="rect">
            <a:avLst/>
          </a:prstGeom>
          <a:solidFill>
            <a:srgbClr val="3A1A0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17720" y="31546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</a:rPr>
              <a:t>○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166360" y="31546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AirDrag 공기저항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858000" y="3172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헤더 선언 완료, 적분 대기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617720" y="3493008"/>
            <a:ext cx="4114800" cy="347472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17720" y="3538728"/>
            <a:ext cx="502920" cy="256032"/>
          </a:xfrm>
          <a:prstGeom prst="rect">
            <a:avLst/>
          </a:prstGeom>
          <a:solidFill>
            <a:srgbClr val="3A1A0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17720" y="35387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</a:rPr>
              <a:t>○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166360" y="3538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짐벌락 해소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858000" y="35570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FQuat 교체 예정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617720" y="3877056"/>
            <a:ext cx="4114800" cy="347472"/>
          </a:xfrm>
          <a:prstGeom prst="rect">
            <a:avLst/>
          </a:prstGeom>
          <a:solidFill>
            <a:srgbClr val="0F1E2D"/>
          </a:solidFill>
          <a:ln w="12700">
            <a:solidFill>
              <a:srgbClr val="0F1E2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17720" y="3922776"/>
            <a:ext cx="502920" cy="256032"/>
          </a:xfrm>
          <a:prstGeom prst="rect">
            <a:avLst/>
          </a:prstGeom>
          <a:solidFill>
            <a:srgbClr val="3A1A0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17720" y="392277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</a:rPr>
              <a:t>○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166360" y="39227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오브젝트 풀링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858000" y="3941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SpawnActor/Destroy 현행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Ballistics System Portfolio</dc:title>
  <dc:subject>PptxGenJS Presentation</dc:subject>
  <dc:creator>PptxGenJS</dc:creator>
  <cp:lastModifiedBy>PptxGenJS</cp:lastModifiedBy>
  <cp:revision>1</cp:revision>
  <dcterms:created xsi:type="dcterms:W3CDTF">2026-04-02T17:12:54Z</dcterms:created>
  <dcterms:modified xsi:type="dcterms:W3CDTF">2026-04-02T17:12:54Z</dcterms:modified>
</cp:coreProperties>
</file>