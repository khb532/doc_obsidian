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463040" cy="237744"/>
          </a:xfrm>
          <a:prstGeom prst="rect">
            <a:avLst/>
          </a:prstGeom>
          <a:solidFill>
            <a:srgbClr val="0D2718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22C55E"/>
                </a:solidFill>
              </a:rPr>
              <a:t>ARCHITECTURE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NPC AI 시스템 아키텍처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52144"/>
            <a:ext cx="8412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Unreal Engine 5  ·  C++  ·  Phase-Driven Event Architecture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72184"/>
            <a:ext cx="84124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27632"/>
            <a:ext cx="1828800" cy="960120"/>
          </a:xfrm>
          <a:prstGeom prst="rect">
            <a:avLst/>
          </a:prstGeom>
          <a:solidFill>
            <a:srgbClr val="1E293B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627632"/>
            <a:ext cx="1828800" cy="457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PhaseTrigger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02996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BoxComponent 오버랩 감지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페이즈 전환 발동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94560" y="195224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60320" y="1627632"/>
            <a:ext cx="1828800" cy="960120"/>
          </a:xfrm>
          <a:prstGeom prst="rect">
            <a:avLst/>
          </a:prstGeom>
          <a:solidFill>
            <a:srgbClr val="1E293B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1627632"/>
            <a:ext cx="18288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StoryManager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202996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페이즈 상태 관리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컨트롤러 등록·명령 전파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89120" y="195224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54880" y="1627632"/>
            <a:ext cx="1828800" cy="960120"/>
          </a:xfrm>
          <a:prstGeom prst="rect">
            <a:avLst/>
          </a:prstGeom>
          <a:solidFill>
            <a:srgbClr val="1E293B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627632"/>
            <a:ext cx="18288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AllyAIController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02996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명령 수신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NavMesh 이동 처리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83680" y="195224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75569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949440" y="1627632"/>
            <a:ext cx="1828800" cy="960120"/>
          </a:xfrm>
          <a:prstGeom prst="rect">
            <a:avLst/>
          </a:prstGeom>
          <a:solidFill>
            <a:srgbClr val="1E293B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1627632"/>
            <a:ext cx="1828800" cy="457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AllyCharacterBase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0" y="202996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머신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무기 시스템 연동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283464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FLOW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65760" y="3090672"/>
            <a:ext cx="246888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1638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3438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초기화 · 대기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834640" y="325526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200400" y="3090672"/>
            <a:ext cx="2468880" cy="658368"/>
          </a:xfrm>
          <a:prstGeom prst="rect">
            <a:avLst/>
          </a:prstGeom>
          <a:solidFill>
            <a:srgbClr val="0D2718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31638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37560" y="3438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방어 위치 이동 명령 브로드캐스트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0" y="325526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035040" y="3090672"/>
            <a:ext cx="2468880" cy="658368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31638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72200" y="3438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처리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65760" y="39136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PhaseTrigger 오버랩 → ChangePhase() → 등록된 모든 AllyAIController에 RecieveOrder() 브로드캐스트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828800" cy="237744"/>
          </a:xfrm>
          <a:prstGeom prst="rect">
            <a:avLst/>
          </a:prstGeom>
          <a:solidFill>
            <a:srgbClr val="0C1E33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38BDF8"/>
                </a:solidFill>
              </a:rPr>
              <a:t>IMPLEMENTATION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구현 포인트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61288"/>
            <a:ext cx="84124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61872"/>
            <a:ext cx="3977640" cy="1737360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61872"/>
            <a:ext cx="64008" cy="1737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54680" y="1371600"/>
            <a:ext cx="1115568" cy="201168"/>
          </a:xfrm>
          <a:prstGeom prst="rect">
            <a:avLst/>
          </a:prstGeom>
          <a:solidFill>
            <a:srgbClr val="0F172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37160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2C55E"/>
                </a:solidFill>
              </a:rPr>
              <a:t>메모리 안전성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30352" y="1353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TWeakObjectPtr 안전 참조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30352" y="16642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소멸 후 댕글링 포인터 없이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등록된 AI 컨트롤러를 안전하게 관리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084832"/>
            <a:ext cx="3703320" cy="841248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148840"/>
            <a:ext cx="35753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TArray&lt;TWeakObjectPtr&lt;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AAllyAIController&gt;&gt; AllyControllers;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(auto Elem : AllyControllers)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Elem-&gt;RecieveOrder(Phase);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1261872"/>
            <a:ext cx="3977640" cy="1737360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261872"/>
            <a:ext cx="64008" cy="1737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89520" y="1371600"/>
            <a:ext cx="1115568" cy="201168"/>
          </a:xfrm>
          <a:prstGeom prst="rect">
            <a:avLst/>
          </a:prstGeom>
          <a:solidFill>
            <a:srgbClr val="0F172A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1371600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8BDF8"/>
                </a:solidFill>
              </a:rPr>
              <a:t>NavMesh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965192" y="13533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NavMesh + 도착 콜백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965192" y="16642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폴링 없이 OnMoveCompleted 콜백으로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 완료 감지 — 이벤트 드리븐 전환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37760" y="2084832"/>
            <a:ext cx="3703320" cy="841248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01768" y="2148840"/>
            <a:ext cx="35753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OnMoveCompleted(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FAIRequestID ID,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FPathFollowingResult&amp; R)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(R.IsSuccess())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OwnChar-&gt;OnArrivedAtPosition();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2944368"/>
            <a:ext cx="3977640" cy="1691640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944368"/>
            <a:ext cx="64008" cy="16916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54680" y="3054096"/>
            <a:ext cx="1115568" cy="201168"/>
          </a:xfrm>
          <a:prstGeom prst="rect">
            <a:avLst/>
          </a:prstGeom>
          <a:solidFill>
            <a:srgbClr val="0F172A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4680" y="305409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BBF24"/>
                </a:solidFill>
              </a:rPr>
              <a:t>방어적 설계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30352" y="3035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HasRecieved Guard Flag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30352" y="334670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브로드캐스트 중복 실행 방지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멱등성 보장으로 신뢰성 확보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02920" y="3767328"/>
            <a:ext cx="3703320" cy="795528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831336"/>
            <a:ext cx="357530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RecieveOrder(EPhase Phase)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(HasRecieved) return; // 중복 차단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MoveDefenseLocation();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HasRecieved = true;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00600" y="2944368"/>
            <a:ext cx="3977640" cy="1691640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2944368"/>
            <a:ext cx="64008" cy="16916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89520" y="3054096"/>
            <a:ext cx="1115568" cy="201168"/>
          </a:xfrm>
          <a:prstGeom prst="rect">
            <a:avLst/>
          </a:prstGeom>
          <a:solidFill>
            <a:srgbClr val="0F172A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3054096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A78BFA"/>
                </a:solidFill>
              </a:rPr>
              <a:t>State Machine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965192" y="30358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기반 상태 머신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965192" y="3346704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EAllyState enum switch dispatch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상태별 로직 완전 분리·독립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937760" y="3767328"/>
            <a:ext cx="3703320" cy="795528"/>
          </a:xfrm>
          <a:prstGeom prst="rect">
            <a:avLst/>
          </a:prstGeom>
          <a:solidFill>
            <a:srgbClr val="0A1628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01768" y="3831336"/>
            <a:ext cx="357530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(mState) 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Idle:  IdleState();  break;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Move:  MoveState();  break;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 Shoot: ShootState(); break;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1645920" cy="237744"/>
          </a:xfrm>
          <a:prstGeom prst="rect">
            <a:avLst/>
          </a:prstGeom>
          <a:solidFill>
            <a:srgbClr val="1A1040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200" kern="0" dirty="0">
                <a:solidFill>
                  <a:srgbClr val="A78BFA"/>
                </a:solidFill>
              </a:rPr>
              <a:t>DEEP DIVE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기반 상태 머신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AllyCharacterBase  ·  EAllyState enum switch dispatch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08176"/>
            <a:ext cx="84124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0" y="1481328"/>
            <a:ext cx="0" cy="338328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72768"/>
            <a:ext cx="1737360" cy="457200"/>
          </a:xfrm>
          <a:prstGeom prst="rect">
            <a:avLst/>
          </a:prstGeom>
          <a:solidFill>
            <a:srgbClr val="1E293B"/>
          </a:solidFill>
          <a:ln w="1016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1848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bMoving = false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371600" y="2029968"/>
            <a:ext cx="0" cy="438912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227137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468880"/>
            <a:ext cx="1737360" cy="457200"/>
          </a:xfrm>
          <a:prstGeom prst="rect">
            <a:avLst/>
          </a:prstGeom>
          <a:solidFill>
            <a:srgbClr val="0C2A38"/>
          </a:solidFill>
          <a:ln w="1016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146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27249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bMoving = true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371600" y="2926080"/>
            <a:ext cx="0" cy="438912"/>
          </a:xfrm>
          <a:prstGeom prst="line">
            <a:avLst/>
          </a:prstGeom>
          <a:noFill/>
          <a:ln w="1524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316748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2920" y="3364992"/>
            <a:ext cx="1737360" cy="457200"/>
          </a:xfrm>
          <a:prstGeom prst="rect">
            <a:avLst/>
          </a:prstGeom>
          <a:solidFill>
            <a:srgbClr val="0D2718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41071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Shoot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6210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PullTrigger()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331720" y="2029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RecieveOrder(Phase2)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331720" y="2926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← OnArrivedAtPosition()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40280" y="2697480"/>
            <a:ext cx="228600" cy="0"/>
          </a:xfrm>
          <a:prstGeom prst="line">
            <a:avLst/>
          </a:prstGeom>
          <a:noFill/>
          <a:ln w="7620">
            <a:solidFill>
              <a:srgbClr val="DC26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468880" y="2496312"/>
            <a:ext cx="1051560" cy="402336"/>
          </a:xfrm>
          <a:prstGeom prst="rect">
            <a:avLst/>
          </a:prstGeom>
          <a:solidFill>
            <a:srgbClr val="2D1515"/>
          </a:solidFill>
          <a:ln w="762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2496312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Damage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468880" y="271576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히트 리액션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240280" y="3593592"/>
            <a:ext cx="228600" cy="0"/>
          </a:xfrm>
          <a:prstGeom prst="line">
            <a:avLst/>
          </a:prstGeom>
          <a:noFill/>
          <a:ln w="7620">
            <a:solidFill>
              <a:srgbClr val="DC26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468880" y="3392424"/>
            <a:ext cx="1051560" cy="402336"/>
          </a:xfrm>
          <a:prstGeom prst="rect">
            <a:avLst/>
          </a:prstGeom>
          <a:solidFill>
            <a:srgbClr val="2D1515"/>
          </a:solidFill>
          <a:ln w="7620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0" y="339242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468880" y="3611880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미구현 → 확장 예정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526280" y="15087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26280" y="1892808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90872" y="18653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SetState() 한 줄로 전환 의도가 코드에 명시적으로 표현됨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26280" y="2286000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90872" y="22585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상태별 함수 완전 분리 → 기능 추가 시 다른 상태에 영향 없음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26280" y="267919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90872" y="2651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mState 변수 하나로 현재 동작을 즉시 파악·디버그 가능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26280" y="3136392"/>
            <a:ext cx="420624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26280" y="321868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방향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26280" y="3566160"/>
            <a:ext cx="54864" cy="47548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72584" y="35478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최적화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672584" y="376732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상태 시 SetActorTickEnabled(false) 적용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비활성 NPC 매 프레임 연산 제거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26280" y="4224528"/>
            <a:ext cx="54864" cy="47548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72584" y="42062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OnEnter / OnExit 분리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672584" y="442569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진입·탈출 시점 로직 처리를 위해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SetState() 안에 훅 함수 추가 확장 예정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2026-04-21T09:03:13Z</dcterms:created>
  <dcterms:modified xsi:type="dcterms:W3CDTF">2026-04-21T09:03:13Z</dcterms:modified>
</cp:coreProperties>
</file>