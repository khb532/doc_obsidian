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bb341d0a1e4b93" /><Relationship Type="http://schemas.openxmlformats.org/officeDocument/2006/relationships/extended-properties" Target="/docProps/app.xml" Id="R95a2f7b3a0ce493a" /><Relationship Type="http://schemas.openxmlformats.org/officeDocument/2006/relationships/officeDocument" Target="/ppt/presentation.xml" Id="Rda2d71db19f249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52ea1699fa4724"/>
  </p:sldMasterIdLst>
  <p:notesMasterIdLst>
    <p:notesMasterId xmlns:r="http://schemas.openxmlformats.org/officeDocument/2006/relationships" r:id="Raa9ada2651354062"/>
  </p:notesMasterIdLst>
  <p:sldIdLst>
    <p:sldId xmlns:r="http://schemas.openxmlformats.org/officeDocument/2006/relationships" id="256" r:id="R052c78ff384842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04c8bd873149ae" /><Relationship Type="http://schemas.openxmlformats.org/officeDocument/2006/relationships/slideMaster" Target="/ppt/slideMasters/slideMaster1.xml" Id="R1552ea1699fa4724" /><Relationship Type="http://schemas.openxmlformats.org/officeDocument/2006/relationships/notesMaster" Target="/ppt/notesMasters/notesMaster1.xml" Id="Raa9ada2651354062" /><Relationship Type="http://schemas.openxmlformats.org/officeDocument/2006/relationships/presProps" Target="/ppt/presProps.xml" Id="Raf96c8a265f24e5b" /><Relationship Type="http://schemas.openxmlformats.org/officeDocument/2006/relationships/tableStyles" Target="/ppt/tableStyles.xml" Id="Ra0a5c6220c684d50" /><Relationship Type="http://schemas.openxmlformats.org/officeDocument/2006/relationships/slide" Target="/ppt/slides/slide1.xml" Id="R052c78ff384842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8f348431304f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5228d2353448ea" /><Relationship Type="http://schemas.openxmlformats.org/officeDocument/2006/relationships/notesMaster" Target="/ppt/notesMasters/notesMaster1.xml" Id="Rabb953e58c854b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93d0a671284c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e73fe68dc24ddc" /><Relationship Type="http://schemas.openxmlformats.org/officeDocument/2006/relationships/slideLayout" Target="/ppt/slideLayouts/slideLayout1.xml" Id="Rbc47468976344e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47468976344e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8bd917cf54209" /><Relationship Type="http://schemas.openxmlformats.org/officeDocument/2006/relationships/notesSlide" Target="/ppt/notesSlides/notesSlide1.xml" Id="R9df78ff6651b45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ower-band">
            <a:extLst xmlns:a="http://schemas.openxmlformats.org/drawingml/2006/main">
              <a:ext uri="{FF2B5EF4-FFF2-40B4-BE49-F238E27FC236}">
                <a16:creationId xmlns:a16="http://schemas.microsoft.com/office/drawing/2014/main" id="{53243875-4F81-4799-9DF0-DC1EB6A6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5161FEEF-DEC9-4E85-A2AF-B221F3A7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STORY TOOLING</a:t>
            </a:r>
          </a:p>
        </p:txBody>
      </p:sp>
      <p:sp>
        <p:nvSpPr>
          <p:cNvPr id="3" name="main-title">
            <a:extLst xmlns:a="http://schemas.openxmlformats.org/drawingml/2006/main">
              <a:ext uri="{FF2B5EF4-FFF2-40B4-BE49-F238E27FC236}">
                <a16:creationId xmlns:a16="http://schemas.microsoft.com/office/drawing/2014/main" id="{04B37646-0B6D-4DDD-B238-16172C8D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레벨 스토리 작업을 공통화한 StoryManager 구조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11DBDD9-22E5-4968-9635-BB848B7C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전투 전개와 연출 연결을 트리거·페이즈·방어 지점 세팅 중심으로 정리해, 스테이지별 반복 작업과 수정 비용을 줄이도록 구성한 작업용 흐름</a:t>
            </a:r>
          </a:p>
        </p:txBody>
      </p:sp>
      <p:sp>
        <p:nvSpPr>
          <p:cNvPr id="5" name="main-panel">
            <a:extLst xmlns:a="http://schemas.openxmlformats.org/drawingml/2006/main">
              <a:ext uri="{FF2B5EF4-FFF2-40B4-BE49-F238E27FC236}">
                <a16:creationId xmlns:a16="http://schemas.microsoft.com/office/drawing/2014/main" id="{664B195C-837E-438B-BAA3-DC892BB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72390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6" name="main-panel-title">
            <a:extLst xmlns:a="http://schemas.openxmlformats.org/drawingml/2006/main">
              <a:ext uri="{FF2B5EF4-FFF2-40B4-BE49-F238E27FC236}">
                <a16:creationId xmlns:a16="http://schemas.microsoft.com/office/drawing/2014/main" id="{83327222-6BA7-4DBE-A7EE-0541EED4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공통 작업 흐름</a:t>
            </a:r>
          </a:p>
        </p:txBody>
      </p:sp>
      <p:sp>
        <p:nvSpPr>
          <p:cNvPr id="7" name="main-panel-subtitle">
            <a:extLst xmlns:a="http://schemas.openxmlformats.org/drawingml/2006/main">
              <a:ext uri="{FF2B5EF4-FFF2-40B4-BE49-F238E27FC236}">
                <a16:creationId xmlns:a16="http://schemas.microsoft.com/office/drawing/2014/main" id="{46022462-6C2A-4F78-AF9B-A861C650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레벨 세팅 -&gt; StoryManager 중앙 제어 -&gt; 아군 재배치/전투 재개</a:t>
            </a:r>
          </a:p>
        </p:txBody>
      </p:sp>
      <p:sp>
        <p:nvSpPr>
          <p:cNvPr id="8" name="flow-box-1">
            <a:extLst xmlns:a="http://schemas.openxmlformats.org/drawingml/2006/main">
              <a:ext uri="{FF2B5EF4-FFF2-40B4-BE49-F238E27FC236}">
                <a16:creationId xmlns:a16="http://schemas.microsoft.com/office/drawing/2014/main" id="{B693F03B-77A5-42A8-84C1-66CD749A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428750" cy="16764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C2C2"/>
            </a:solidFill>
            <a:prstDash val="solid"/>
          </a:ln>
        </p:spPr>
      </p:sp>
      <p:sp>
        <p:nvSpPr>
          <p:cNvPr id="9" name="flow-badge-1">
            <a:extLst xmlns:a="http://schemas.openxmlformats.org/drawingml/2006/main">
              <a:ext uri="{FF2B5EF4-FFF2-40B4-BE49-F238E27FC236}">
                <a16:creationId xmlns:a16="http://schemas.microsoft.com/office/drawing/2014/main" id="{9D4F4202-1B3A-4639-8D7A-512255C6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0" name="flow-badge-text-1">
            <a:extLst xmlns:a="http://schemas.openxmlformats.org/drawingml/2006/main">
              <a:ext uri="{FF2B5EF4-FFF2-40B4-BE49-F238E27FC236}">
                <a16:creationId xmlns:a16="http://schemas.microsoft.com/office/drawing/2014/main" id="{F7530457-29FD-473B-AE87-557B6C50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F93C7057-E411-4EB6-8C2D-83128601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1. Trigger 배치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9AB2627E-49AC-47D4-9FA4-A07E8FB8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116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레벨마다</a:t>
            </a:r>
          </a:p>
          <a:p xmlns:a="http://schemas.openxmlformats.org/drawingml/2006/main">
            <a:pPr algn="l">
              <a:def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PhaseTrigger 배치</a:t>
            </a:r>
          </a:p>
          <a:p xmlns:a="http://schemas.openxmlformats.org/drawingml/2006/main">
            <a:pPr algn="l">
              <a:def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ToPhase 값 세팅</a:t>
            </a:r>
          </a:p>
        </p:txBody>
      </p:sp>
      <p:sp>
        <p:nvSpPr>
          <p:cNvPr id="13" name="flow-box-2">
            <a:extLst xmlns:a="http://schemas.openxmlformats.org/drawingml/2006/main">
              <a:ext uri="{FF2B5EF4-FFF2-40B4-BE49-F238E27FC236}">
                <a16:creationId xmlns:a16="http://schemas.microsoft.com/office/drawing/2014/main" id="{49A643FB-C4DB-4F44-B43E-93F9B737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00350"/>
            <a:ext cx="1428750" cy="16764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024AD8"/>
            </a:solidFill>
            <a:prstDash val="solid"/>
          </a:ln>
        </p:spPr>
      </p:sp>
      <p:sp>
        <p:nvSpPr>
          <p:cNvPr id="14" name="flow-badge-2">
            <a:extLst xmlns:a="http://schemas.openxmlformats.org/drawingml/2006/main">
              <a:ext uri="{FF2B5EF4-FFF2-40B4-BE49-F238E27FC236}">
                <a16:creationId xmlns:a16="http://schemas.microsoft.com/office/drawing/2014/main" id="{370DCA12-A024-44D8-BC34-0681E4B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33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9525">
            <a:solidFill>
              <a:srgbClr val="024AD8"/>
            </a:solidFill>
            <a:prstDash val="solid"/>
          </a:ln>
        </p:spPr>
      </p:sp>
      <p:sp>
        <p:nvSpPr>
          <p:cNvPr id="15" name="flow-badge-text-2">
            <a:extLst xmlns:a="http://schemas.openxmlformats.org/drawingml/2006/main">
              <a:ext uri="{FF2B5EF4-FFF2-40B4-BE49-F238E27FC236}">
                <a16:creationId xmlns:a16="http://schemas.microsoft.com/office/drawing/2014/main" id="{B78B9E83-61FC-4DEA-A17F-42369E68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718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700B286D-0B73-46A5-AC8E-E807BF18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147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2. StoryManager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1D0B4F9A-8E3C-4481-8535-14D5EADB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76650"/>
            <a:ext cx="116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CurPhase 전환</a:t>
            </a:r>
          </a:p>
          <a:p xmlns:a="http://schemas.openxmlformats.org/drawingml/2006/main">
            <a:pPr algn="l">
              <a:def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등록된 AI에</a:t>
            </a:r>
          </a:p>
          <a:p xmlns:a="http://schemas.openxmlformats.org/drawingml/2006/main">
            <a:pPr algn="l">
              <a:def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EPhase 명령 전달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43E05B6A-7EDF-4B78-95B0-6B55817E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428750" cy="16764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C2C2"/>
            </a:solidFill>
            <a:prstDash val="solid"/>
          </a:ln>
        </p:spPr>
      </p:sp>
      <p:sp>
        <p:nvSpPr>
          <p:cNvPr id="19" name="flow-badge-3">
            <a:extLst xmlns:a="http://schemas.openxmlformats.org/drawingml/2006/main">
              <a:ext uri="{FF2B5EF4-FFF2-40B4-BE49-F238E27FC236}">
                <a16:creationId xmlns:a16="http://schemas.microsoft.com/office/drawing/2014/main" id="{2B23A28D-34E1-422C-9E82-C8983B22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0" name="flow-badge-text-3">
            <a:extLst xmlns:a="http://schemas.openxmlformats.org/drawingml/2006/main">
              <a:ext uri="{FF2B5EF4-FFF2-40B4-BE49-F238E27FC236}">
                <a16:creationId xmlns:a16="http://schemas.microsoft.com/office/drawing/2014/main" id="{D9945024-B168-4ABB-B92C-74F6D3A1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718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DEBFEC20-5D6E-4EAF-B88F-395F240E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147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3. AI 재배치</a:t>
            </a:r>
          </a:p>
        </p:txBody>
      </p:sp>
      <p:sp>
        <p:nvSpPr>
          <p:cNvPr id="22" name="flow-body-3">
            <a:extLst xmlns:a="http://schemas.openxmlformats.org/drawingml/2006/main">
              <a:ext uri="{FF2B5EF4-FFF2-40B4-BE49-F238E27FC236}">
                <a16:creationId xmlns:a16="http://schemas.microsoft.com/office/drawing/2014/main" id="{34067209-9411-4EF8-8AA2-D1D234E0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6650"/>
            <a:ext cx="116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캐릭터별</a:t>
            </a:r>
          </a:p>
          <a:p xmlns:a="http://schemas.openxmlformats.org/drawingml/2006/main">
            <a:pPr algn="l">
              <a:def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Defense Point 선택</a:t>
            </a:r>
          </a:p>
          <a:p xmlns:a="http://schemas.openxmlformats.org/drawingml/2006/main">
            <a:pPr algn="l">
              <a:def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이동 명령 수행</a:t>
            </a:r>
          </a:p>
        </p:txBody>
      </p:sp>
      <p:sp>
        <p:nvSpPr>
          <p:cNvPr id="23" name="flow-box-4">
            <a:extLst xmlns:a="http://schemas.openxmlformats.org/drawingml/2006/main">
              <a:ext uri="{FF2B5EF4-FFF2-40B4-BE49-F238E27FC236}">
                <a16:creationId xmlns:a16="http://schemas.microsoft.com/office/drawing/2014/main" id="{7068C77A-8DAC-4D5F-81F2-1A89DC29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00350"/>
            <a:ext cx="1428750" cy="16764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C2C2"/>
            </a:solidFill>
            <a:prstDash val="solid"/>
          </a:ln>
        </p:spPr>
      </p:sp>
      <p:sp>
        <p:nvSpPr>
          <p:cNvPr id="24" name="flow-badge-4">
            <a:extLst xmlns:a="http://schemas.openxmlformats.org/drawingml/2006/main">
              <a:ext uri="{FF2B5EF4-FFF2-40B4-BE49-F238E27FC236}">
                <a16:creationId xmlns:a16="http://schemas.microsoft.com/office/drawing/2014/main" id="{690B8E68-843E-4F68-ABCC-A34F5E8D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5" name="flow-badge-text-4">
            <a:extLst xmlns:a="http://schemas.openxmlformats.org/drawingml/2006/main">
              <a:ext uri="{FF2B5EF4-FFF2-40B4-BE49-F238E27FC236}">
                <a16:creationId xmlns:a16="http://schemas.microsoft.com/office/drawing/2014/main" id="{EE104307-1D3A-4FF5-99FA-B6DF9D97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718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2D59E604-7C21-4166-BCD3-D0233FCC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4. 플레이 결과</a:t>
            </a:r>
          </a:p>
        </p:txBody>
      </p:sp>
      <p:sp>
        <p:nvSpPr>
          <p:cNvPr id="27" name="flow-body-4">
            <a:extLst xmlns:a="http://schemas.openxmlformats.org/drawingml/2006/main">
              <a:ext uri="{FF2B5EF4-FFF2-40B4-BE49-F238E27FC236}">
                <a16:creationId xmlns:a16="http://schemas.microsoft.com/office/drawing/2014/main" id="{62ACB00D-26D9-4B45-8360-7D4AC389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76650"/>
            <a:ext cx="116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아군 재배치</a:t>
            </a:r>
          </a:p>
          <a:p xmlns:a="http://schemas.openxmlformats.org/drawingml/2006/main">
            <a:pPr algn="l">
              <a:def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전투 루프 재개</a:t>
            </a:r>
          </a:p>
          <a:p xmlns:a="http://schemas.openxmlformats.org/drawingml/2006/main">
            <a:pPr algn="l">
              <a:def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엔딩 연출 연결</a:t>
            </a:r>
          </a:p>
        </p:txBody>
      </p:sp>
      <p:sp>
        <p:nvSpPr>
          <p:cNvPr id="28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8EEE472-DF41-49D8-8A0F-1B269C15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67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E0FC"/>
          </a:solidFill>
          <a:ln xmlns:a="http://schemas.openxmlformats.org/drawingml/2006/main" w="0">
            <a:solidFill>
              <a:srgbClr val="C9E0FC"/>
            </a:solidFill>
            <a:prstDash val="solid"/>
          </a:ln>
        </p:spPr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3FBE381-3CE4-44BE-A864-56101ACF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67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E0FC"/>
          </a:solidFill>
          <a:ln xmlns:a="http://schemas.openxmlformats.org/drawingml/2006/main" w="0">
            <a:solidFill>
              <a:srgbClr val="C9E0FC"/>
            </a:solidFill>
            <a:prstDash val="solid"/>
          </a:ln>
        </p:spPr>
      </p:sp>
      <p:sp>
        <p:nvSpPr>
          <p:cNvPr id="3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CF911727-E8DC-4486-B08A-9C5BA847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67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E0FC"/>
          </a:solidFill>
          <a:ln xmlns:a="http://schemas.openxmlformats.org/drawingml/2006/main" w="0">
            <a:solidFill>
              <a:srgbClr val="C9E0FC"/>
            </a:solidFill>
            <a:prstDash val="solid"/>
          </a:ln>
        </p:spPr>
      </p:sp>
      <p:sp>
        <p:nvSpPr>
          <p:cNvPr id="31" name="aircraft-pill">
            <a:extLst xmlns:a="http://schemas.openxmlformats.org/drawingml/2006/main">
              <a:ext uri="{FF2B5EF4-FFF2-40B4-BE49-F238E27FC236}">
                <a16:creationId xmlns:a16="http://schemas.microsoft.com/office/drawing/2014/main" id="{BBA79068-FCA4-40F0-BF26-CCF6B243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52950"/>
            <a:ext cx="2724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32" name="aircraft-pill-text">
            <a:extLst xmlns:a="http://schemas.openxmlformats.org/drawingml/2006/main">
              <a:ext uri="{FF2B5EF4-FFF2-40B4-BE49-F238E27FC236}">
                <a16:creationId xmlns:a16="http://schemas.microsoft.com/office/drawing/2014/main" id="{6DCB7170-565C-477D-B228-84FCC355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672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3191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E3191"/>
                </a:solidFill>
                <a:latin typeface="Pretendard"/>
                <a:ea typeface="Pretendard"/>
                <a:cs typeface="Pretendard"/>
              </a:rPr>
              <a:t>Ending 페이즈에서는 Aircraft 연출 호출</a:t>
            </a:r>
          </a:p>
        </p:txBody>
      </p:sp>
      <p:sp>
        <p:nvSpPr>
          <p:cNvPr id="33" name="reason-card">
            <a:extLst xmlns:a="http://schemas.openxmlformats.org/drawingml/2006/main">
              <a:ext uri="{FF2B5EF4-FFF2-40B4-BE49-F238E27FC236}">
                <a16:creationId xmlns:a16="http://schemas.microsoft.com/office/drawing/2014/main" id="{7731E5DD-8535-4A4E-94C2-963FB1A5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3337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34" name="reason-title">
            <a:extLst xmlns:a="http://schemas.openxmlformats.org/drawingml/2006/main">
              <a:ext uri="{FF2B5EF4-FFF2-40B4-BE49-F238E27FC236}">
                <a16:creationId xmlns:a16="http://schemas.microsoft.com/office/drawing/2014/main" id="{80A9551D-EA92-4E63-8FA8-355EDED6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왜 이렇게 정리했는가</a:t>
            </a:r>
          </a:p>
        </p:txBody>
      </p:sp>
      <p:sp>
        <p:nvSpPr>
          <p:cNvPr id="35" name="reason-bullets">
            <a:extLst xmlns:a="http://schemas.openxmlformats.org/drawingml/2006/main">
              <a:ext uri="{FF2B5EF4-FFF2-40B4-BE49-F238E27FC236}">
                <a16:creationId xmlns:a16="http://schemas.microsoft.com/office/drawing/2014/main" id="{69C54616-7710-4333-BCD4-39C1AFAC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8" indent="-10">
              <a:buChar char="•"/>
              <a:defRPr sz="105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레벨마다 전투 전개와 연출 연결을 개별 하드코딩하는 반복 작업을 줄이기 위해</a:t>
            </a:r>
          </a:p>
          <a:p xmlns:a="http://schemas.openxmlformats.org/drawingml/2006/main">
            <a:pPr marL="18" indent="-10">
              <a:buChar char="•"/>
              <a:defRPr sz="105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수정 포인트를 Trigger, ToPhase, Defense Point 세팅 중심으로 모으기 위해</a:t>
            </a:r>
          </a:p>
        </p:txBody>
      </p:sp>
      <p:sp>
        <p:nvSpPr>
          <p:cNvPr id="36" name="use-card">
            <a:extLst xmlns:a="http://schemas.openxmlformats.org/drawingml/2006/main">
              <a:ext uri="{FF2B5EF4-FFF2-40B4-BE49-F238E27FC236}">
                <a16:creationId xmlns:a16="http://schemas.microsoft.com/office/drawing/2014/main" id="{5F8AB391-B1FD-40ED-9A39-075B16BE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33337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37" name="use-title">
            <a:extLst xmlns:a="http://schemas.openxmlformats.org/drawingml/2006/main">
              <a:ext uri="{FF2B5EF4-FFF2-40B4-BE49-F238E27FC236}">
                <a16:creationId xmlns:a16="http://schemas.microsoft.com/office/drawing/2014/main" id="{63AFA5B5-1F79-466E-BFD6-016E80ED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67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협업에서 쓰는 방식</a:t>
            </a:r>
          </a:p>
        </p:txBody>
      </p:sp>
      <p:sp>
        <p:nvSpPr>
          <p:cNvPr id="38" name="use-bullets">
            <a:extLst xmlns:a="http://schemas.openxmlformats.org/drawingml/2006/main">
              <a:ext uri="{FF2B5EF4-FFF2-40B4-BE49-F238E27FC236}">
                <a16:creationId xmlns:a16="http://schemas.microsoft.com/office/drawing/2014/main" id="{776BE02C-EA16-4AB2-89E5-54A36A10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100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8" indent="-10">
              <a:buChar char="•"/>
              <a:defRPr sz="105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레벨 작업자는 Trigger 위치와 방어 지점 배치로 스테이지 흐름을 조정</a:t>
            </a:r>
          </a:p>
          <a:p xmlns:a="http://schemas.openxmlformats.org/drawingml/2006/main">
            <a:pPr marL="18" indent="-10">
              <a:buChar char="•"/>
              <a:defRPr sz="105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프로그래머는 공통 제어 로직만 유지보수하며 레벨별 분기를 줄이는 방향으로 설계</a:t>
            </a:r>
          </a:p>
        </p:txBody>
      </p:sp>
      <p:sp>
        <p:nvSpPr>
          <p:cNvPr id="39" name="role-card-1">
            <a:extLst xmlns:a="http://schemas.openxmlformats.org/drawingml/2006/main">
              <a:ext uri="{FF2B5EF4-FFF2-40B4-BE49-F238E27FC236}">
                <a16:creationId xmlns:a16="http://schemas.microsoft.com/office/drawing/2014/main" id="{C28603AC-991F-45C6-9FAE-3EC5EAD8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3371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40" name="role-accent-1">
            <a:extLst xmlns:a="http://schemas.openxmlformats.org/drawingml/2006/main">
              <a:ext uri="{FF2B5EF4-FFF2-40B4-BE49-F238E27FC236}">
                <a16:creationId xmlns:a16="http://schemas.microsoft.com/office/drawing/2014/main" id="{54C31F40-8858-43E9-BCE5-41197091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  <a:prstDash val="solid"/>
          </a:ln>
        </p:spPr>
      </p:sp>
      <p:sp>
        <p:nvSpPr>
          <p:cNvPr id="41" name="role-title-1">
            <a:extLst xmlns:a="http://schemas.openxmlformats.org/drawingml/2006/main">
              <a:ext uri="{FF2B5EF4-FFF2-40B4-BE49-F238E27FC236}">
                <a16:creationId xmlns:a16="http://schemas.microsoft.com/office/drawing/2014/main" id="{F545B0FC-1E7B-4641-BC25-6548BD72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기획자 관점</a:t>
            </a:r>
          </a:p>
        </p:txBody>
      </p:sp>
      <p:sp>
        <p:nvSpPr>
          <p:cNvPr id="42" name="role-body-1">
            <a:extLst xmlns:a="http://schemas.openxmlformats.org/drawingml/2006/main">
              <a:ext uri="{FF2B5EF4-FFF2-40B4-BE49-F238E27FC236}">
                <a16:creationId xmlns:a16="http://schemas.microsoft.com/office/drawing/2014/main" id="{EE32CEFE-11B0-479B-B16C-50A56C16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19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페이즈 전환 타이밍과</a:t>
            </a:r>
          </a:p>
          <a:p xmlns:a="http://schemas.openxmlformats.org/drawingml/2006/main">
            <a:pPr algn="l">
              <a:defRPr sz="1050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전투 전개 순서를 정의</a:t>
            </a:r>
          </a:p>
        </p:txBody>
      </p:sp>
      <p:sp>
        <p:nvSpPr>
          <p:cNvPr id="43" name="role-card-2">
            <a:extLst xmlns:a="http://schemas.openxmlformats.org/drawingml/2006/main">
              <a:ext uri="{FF2B5EF4-FFF2-40B4-BE49-F238E27FC236}">
                <a16:creationId xmlns:a16="http://schemas.microsoft.com/office/drawing/2014/main" id="{B1B6C114-7179-40CD-8660-6AFEA2B6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43550"/>
            <a:ext cx="3371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44" name="role-accent-2">
            <a:extLst xmlns:a="http://schemas.openxmlformats.org/drawingml/2006/main">
              <a:ext uri="{FF2B5EF4-FFF2-40B4-BE49-F238E27FC236}">
                <a16:creationId xmlns:a16="http://schemas.microsoft.com/office/drawing/2014/main" id="{C02A431F-28E7-4EF6-BE2D-B453631D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435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  <a:prstDash val="solid"/>
          </a:ln>
        </p:spPr>
      </p:sp>
      <p:sp>
        <p:nvSpPr>
          <p:cNvPr id="45" name="role-title-2">
            <a:extLst xmlns:a="http://schemas.openxmlformats.org/drawingml/2006/main">
              <a:ext uri="{FF2B5EF4-FFF2-40B4-BE49-F238E27FC236}">
                <a16:creationId xmlns:a16="http://schemas.microsoft.com/office/drawing/2014/main" id="{01765F87-6648-440C-A953-90B864B5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734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레벨 디자이너 관점</a:t>
            </a:r>
          </a:p>
        </p:txBody>
      </p:sp>
      <p:sp>
        <p:nvSpPr>
          <p:cNvPr id="46" name="role-body-2">
            <a:extLst xmlns:a="http://schemas.openxmlformats.org/drawingml/2006/main">
              <a:ext uri="{FF2B5EF4-FFF2-40B4-BE49-F238E27FC236}">
                <a16:creationId xmlns:a16="http://schemas.microsoft.com/office/drawing/2014/main" id="{530598C0-91B8-4B39-ABA7-635232F7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019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Trigger 위치와</a:t>
            </a:r>
          </a:p>
          <a:p xmlns:a="http://schemas.openxmlformats.org/drawingml/2006/main">
            <a:pPr algn="l">
              <a:defRPr sz="1050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Defense Point를 배치</a:t>
            </a:r>
          </a:p>
        </p:txBody>
      </p:sp>
      <p:sp>
        <p:nvSpPr>
          <p:cNvPr id="47" name="role-card-3">
            <a:extLst xmlns:a="http://schemas.openxmlformats.org/drawingml/2006/main">
              <a:ext uri="{FF2B5EF4-FFF2-40B4-BE49-F238E27FC236}">
                <a16:creationId xmlns:a16="http://schemas.microsoft.com/office/drawing/2014/main" id="{C58087A9-025D-46E8-BECD-D1806834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43550"/>
            <a:ext cx="3371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48" name="role-accent-3">
            <a:extLst xmlns:a="http://schemas.openxmlformats.org/drawingml/2006/main">
              <a:ext uri="{FF2B5EF4-FFF2-40B4-BE49-F238E27FC236}">
                <a16:creationId xmlns:a16="http://schemas.microsoft.com/office/drawing/2014/main" id="{4320D5FD-1F92-4FF7-869A-10EB6930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435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  <a:prstDash val="solid"/>
          </a:ln>
        </p:spPr>
      </p:sp>
      <p:sp>
        <p:nvSpPr>
          <p:cNvPr id="49" name="role-title-3">
            <a:extLst xmlns:a="http://schemas.openxmlformats.org/drawingml/2006/main">
              <a:ext uri="{FF2B5EF4-FFF2-40B4-BE49-F238E27FC236}">
                <a16:creationId xmlns:a16="http://schemas.microsoft.com/office/drawing/2014/main" id="{17C04C16-0BEE-4A20-89D6-ABDA8C23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34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프로그래머 관점</a:t>
            </a:r>
          </a:p>
        </p:txBody>
      </p:sp>
      <p:sp>
        <p:nvSpPr>
          <p:cNvPr id="50" name="role-body-3">
            <a:extLst xmlns:a="http://schemas.openxmlformats.org/drawingml/2006/main">
              <a:ext uri="{FF2B5EF4-FFF2-40B4-BE49-F238E27FC236}">
                <a16:creationId xmlns:a16="http://schemas.microsoft.com/office/drawing/2014/main" id="{372964DD-97F2-4694-B14E-26D97B5D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19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StoryManager와 AI 흐름을</a:t>
            </a:r>
          </a:p>
          <a:p xmlns:a="http://schemas.openxmlformats.org/drawingml/2006/main">
            <a:pPr algn="l">
              <a:defRPr sz="1050" b="0">
                <a:solidFill>
                  <a:srgbClr val="3D3D3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공통 구조로 유지</a:t>
            </a:r>
          </a:p>
        </p:txBody>
      </p:sp>
      <p:sp>
        <p:nvSpPr>
          <p:cNvPr id="51" name="footer">
            <a:extLst xmlns:a="http://schemas.openxmlformats.org/drawingml/2006/main">
              <a:ext uri="{FF2B5EF4-FFF2-40B4-BE49-F238E27FC236}">
                <a16:creationId xmlns:a16="http://schemas.microsoft.com/office/drawing/2014/main" id="{76EF64CD-C7E9-41D5-AEEC-7C371AB3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96050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Sample slide / 1</a:t>
            </a:r>
          </a:p>
        </p:txBody>
      </p:sp>
    </p:spTree>
    <p:extLst>
      <p:ext uri="{BB962C8B-B14F-4D97-AF65-F5344CB8AC3E}">
        <p14:creationId xmlns:p14="http://schemas.microsoft.com/office/powerpoint/2010/main" val="1711923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2026-06-15T16:01:12.6980000Z</dcterms:created>
  <dcterms:modified xsi:type="dcterms:W3CDTF">2026-06-15T16:01:12.6980000Z</dcterms:modified>
</coreProperties>
</file>