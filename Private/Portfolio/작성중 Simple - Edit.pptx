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10287000" cx="1828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239">
          <p15:clr>
            <a:srgbClr val="000000"/>
          </p15:clr>
        </p15:guide>
        <p15:guide id="2" pos="5758">
          <p15:clr>
            <a:srgbClr val="000000"/>
          </p15:clr>
        </p15:guide>
      </p15:sldGuideLst>
    </p:ext>
    <p:ext uri="GoogleSlidesCustomDataVersion2">
      <go:slidesCustomData xmlns:go="http://customooxmlschemas.google.com/" r:id="rId25" roundtripDataSignature="AMtx7mh6uOFqsmQ7bqrSMgwT2vZaugrH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239" orient="horz"/>
        <p:guide pos="5758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0" name="Google Shape;100;p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00" spcFirstLastPara="1" rIns="91400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8" name="Google Shape;138;p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4" name="Google Shape;174;p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7" name="Google Shape;217;p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00" spcFirstLastPara="1" rIns="91400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9" name="Google Shape;229;p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5" name="Google Shape;265;p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p1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1" name="Google Shape;301;p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31" name="Google Shape;331;p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66" name="Google Shape;366;p1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00" name="Google Shape;400;p1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37" name="Google Shape;437;p1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490" name="Google Shape;490;p1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28" name="Google Shape;528;p1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560" name="Google Shape;560;p1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2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2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4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2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6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6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26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6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8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8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8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9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9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9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30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3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3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1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31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3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3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3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1.png"/><Relationship Id="rId4" Type="http://schemas.openxmlformats.org/officeDocument/2006/relationships/image" Target="../media/image14.png"/><Relationship Id="rId5" Type="http://schemas.openxmlformats.org/officeDocument/2006/relationships/image" Target="../media/image7.png"/><Relationship Id="rId6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Relationship Id="rId4" Type="http://schemas.openxmlformats.org/officeDocument/2006/relationships/image" Target="../media/image5.png"/><Relationship Id="rId11" Type="http://schemas.openxmlformats.org/officeDocument/2006/relationships/image" Target="../media/image3.jpg"/><Relationship Id="rId10" Type="http://schemas.openxmlformats.org/officeDocument/2006/relationships/image" Target="../media/image2.png"/><Relationship Id="rId9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27.png"/><Relationship Id="rId7" Type="http://schemas.openxmlformats.org/officeDocument/2006/relationships/image" Target="../media/image14.png"/><Relationship Id="rId8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5" Type="http://schemas.openxmlformats.org/officeDocument/2006/relationships/image" Target="../media/image9.png"/><Relationship Id="rId6" Type="http://schemas.openxmlformats.org/officeDocument/2006/relationships/image" Target="../media/image28.png"/><Relationship Id="rId7" Type="http://schemas.openxmlformats.org/officeDocument/2006/relationships/image" Target="../media/image2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1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1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0.png"/><Relationship Id="rId4" Type="http://schemas.openxmlformats.org/officeDocument/2006/relationships/image" Target="../media/image14.png"/><Relationship Id="rId5" Type="http://schemas.openxmlformats.org/officeDocument/2006/relationships/image" Target="../media/image24.png"/><Relationship Id="rId6" Type="http://schemas.openxmlformats.org/officeDocument/2006/relationships/image" Target="../media/image27.png"/><Relationship Id="rId7" Type="http://schemas.openxmlformats.org/officeDocument/2006/relationships/image" Target="../media/image1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3.png"/><Relationship Id="rId4" Type="http://schemas.openxmlformats.org/officeDocument/2006/relationships/image" Target="../media/image47.png"/><Relationship Id="rId10" Type="http://schemas.openxmlformats.org/officeDocument/2006/relationships/image" Target="../media/image31.png"/><Relationship Id="rId9" Type="http://schemas.openxmlformats.org/officeDocument/2006/relationships/image" Target="../media/image32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33.png"/><Relationship Id="rId8" Type="http://schemas.openxmlformats.org/officeDocument/2006/relationships/image" Target="../media/image37.png"/></Relationships>
</file>

<file path=ppt/slides/_rels/slide13.xml.rels><?xml version="1.0" encoding="UTF-8" standalone="yes"?><Relationships xmlns="http://schemas.openxmlformats.org/package/2006/relationships"><Relationship Id="rId11" Type="http://schemas.openxmlformats.org/officeDocument/2006/relationships/image" Target="../media/image58.png"/><Relationship Id="rId10" Type="http://schemas.openxmlformats.org/officeDocument/2006/relationships/image" Target="../media/image46.png"/><Relationship Id="rId13" Type="http://schemas.openxmlformats.org/officeDocument/2006/relationships/image" Target="../media/image51.png"/><Relationship Id="rId12" Type="http://schemas.openxmlformats.org/officeDocument/2006/relationships/image" Target="../media/image4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3.png"/><Relationship Id="rId4" Type="http://schemas.openxmlformats.org/officeDocument/2006/relationships/image" Target="../media/image41.png"/><Relationship Id="rId9" Type="http://schemas.openxmlformats.org/officeDocument/2006/relationships/image" Target="../media/image34.png"/><Relationship Id="rId15" Type="http://schemas.openxmlformats.org/officeDocument/2006/relationships/image" Target="../media/image50.png"/><Relationship Id="rId14" Type="http://schemas.openxmlformats.org/officeDocument/2006/relationships/image" Target="../media/image64.png"/><Relationship Id="rId16" Type="http://schemas.openxmlformats.org/officeDocument/2006/relationships/image" Target="../media/image61.png"/><Relationship Id="rId5" Type="http://schemas.openxmlformats.org/officeDocument/2006/relationships/image" Target="../media/image47.png"/><Relationship Id="rId6" Type="http://schemas.openxmlformats.org/officeDocument/2006/relationships/image" Target="../media/image39.png"/><Relationship Id="rId7" Type="http://schemas.openxmlformats.org/officeDocument/2006/relationships/image" Target="../media/image35.png"/><Relationship Id="rId8" Type="http://schemas.openxmlformats.org/officeDocument/2006/relationships/image" Target="../media/image40.png"/></Relationships>
</file>

<file path=ppt/slides/_rels/slide14.xml.rels><?xml version="1.0" encoding="UTF-8" standalone="yes"?><Relationships xmlns="http://schemas.openxmlformats.org/package/2006/relationships"><Relationship Id="rId11" Type="http://schemas.openxmlformats.org/officeDocument/2006/relationships/image" Target="../media/image59.png"/><Relationship Id="rId10" Type="http://schemas.openxmlformats.org/officeDocument/2006/relationships/image" Target="../media/image49.png"/><Relationship Id="rId13" Type="http://schemas.openxmlformats.org/officeDocument/2006/relationships/image" Target="../media/image60.png"/><Relationship Id="rId12" Type="http://schemas.openxmlformats.org/officeDocument/2006/relationships/image" Target="../media/image65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3.png"/><Relationship Id="rId4" Type="http://schemas.openxmlformats.org/officeDocument/2006/relationships/image" Target="../media/image47.png"/><Relationship Id="rId9" Type="http://schemas.openxmlformats.org/officeDocument/2006/relationships/image" Target="../media/image62.png"/><Relationship Id="rId5" Type="http://schemas.openxmlformats.org/officeDocument/2006/relationships/image" Target="../media/image39.png"/><Relationship Id="rId6" Type="http://schemas.openxmlformats.org/officeDocument/2006/relationships/image" Target="../media/image55.png"/><Relationship Id="rId7" Type="http://schemas.openxmlformats.org/officeDocument/2006/relationships/image" Target="../media/image35.png"/><Relationship Id="rId8" Type="http://schemas.openxmlformats.org/officeDocument/2006/relationships/image" Target="../media/image40.png"/></Relationships>
</file>

<file path=ppt/slides/_rels/slide15.xml.rels><?xml version="1.0" encoding="UTF-8" standalone="yes"?><Relationships xmlns="http://schemas.openxmlformats.org/package/2006/relationships"><Relationship Id="rId11" Type="http://schemas.openxmlformats.org/officeDocument/2006/relationships/image" Target="../media/image86.png"/><Relationship Id="rId10" Type="http://schemas.openxmlformats.org/officeDocument/2006/relationships/image" Target="../media/image40.png"/><Relationship Id="rId13" Type="http://schemas.openxmlformats.org/officeDocument/2006/relationships/image" Target="../media/image70.png"/><Relationship Id="rId12" Type="http://schemas.openxmlformats.org/officeDocument/2006/relationships/image" Target="../media/image67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3.png"/><Relationship Id="rId4" Type="http://schemas.openxmlformats.org/officeDocument/2006/relationships/image" Target="../media/image47.png"/><Relationship Id="rId9" Type="http://schemas.openxmlformats.org/officeDocument/2006/relationships/image" Target="../media/image53.png"/><Relationship Id="rId14" Type="http://schemas.openxmlformats.org/officeDocument/2006/relationships/image" Target="../media/image32.png"/><Relationship Id="rId5" Type="http://schemas.openxmlformats.org/officeDocument/2006/relationships/image" Target="../media/image39.png"/><Relationship Id="rId6" Type="http://schemas.openxmlformats.org/officeDocument/2006/relationships/image" Target="../media/image57.png"/><Relationship Id="rId7" Type="http://schemas.openxmlformats.org/officeDocument/2006/relationships/image" Target="../media/image52.png"/><Relationship Id="rId8" Type="http://schemas.openxmlformats.org/officeDocument/2006/relationships/image" Target="../media/image63.png"/></Relationships>
</file>

<file path=ppt/slides/_rels/slide16.xml.rels><?xml version="1.0" encoding="UTF-8" standalone="yes"?><Relationships xmlns="http://schemas.openxmlformats.org/package/2006/relationships"><Relationship Id="rId20" Type="http://schemas.openxmlformats.org/officeDocument/2006/relationships/image" Target="../media/image91.png"/><Relationship Id="rId11" Type="http://schemas.openxmlformats.org/officeDocument/2006/relationships/image" Target="../media/image77.png"/><Relationship Id="rId10" Type="http://schemas.openxmlformats.org/officeDocument/2006/relationships/image" Target="../media/image72.png"/><Relationship Id="rId13" Type="http://schemas.openxmlformats.org/officeDocument/2006/relationships/image" Target="../media/image87.png"/><Relationship Id="rId12" Type="http://schemas.openxmlformats.org/officeDocument/2006/relationships/image" Target="../media/image7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3.png"/><Relationship Id="rId4" Type="http://schemas.openxmlformats.org/officeDocument/2006/relationships/image" Target="../media/image47.png"/><Relationship Id="rId9" Type="http://schemas.openxmlformats.org/officeDocument/2006/relationships/image" Target="../media/image66.png"/><Relationship Id="rId15" Type="http://schemas.openxmlformats.org/officeDocument/2006/relationships/image" Target="../media/image78.png"/><Relationship Id="rId14" Type="http://schemas.openxmlformats.org/officeDocument/2006/relationships/image" Target="../media/image81.png"/><Relationship Id="rId17" Type="http://schemas.openxmlformats.org/officeDocument/2006/relationships/image" Target="../media/image76.png"/><Relationship Id="rId16" Type="http://schemas.openxmlformats.org/officeDocument/2006/relationships/image" Target="../media/image89.png"/><Relationship Id="rId5" Type="http://schemas.openxmlformats.org/officeDocument/2006/relationships/image" Target="../media/image39.png"/><Relationship Id="rId19" Type="http://schemas.openxmlformats.org/officeDocument/2006/relationships/image" Target="../media/image73.png"/><Relationship Id="rId6" Type="http://schemas.openxmlformats.org/officeDocument/2006/relationships/image" Target="../media/image40.png"/><Relationship Id="rId18" Type="http://schemas.openxmlformats.org/officeDocument/2006/relationships/image" Target="../media/image82.png"/><Relationship Id="rId7" Type="http://schemas.openxmlformats.org/officeDocument/2006/relationships/image" Target="../media/image68.png"/><Relationship Id="rId8" Type="http://schemas.openxmlformats.org/officeDocument/2006/relationships/image" Target="../media/image75.png"/></Relationships>
</file>

<file path=ppt/slides/_rels/slide17.xml.rels><?xml version="1.0" encoding="UTF-8" standalone="yes"?><Relationships xmlns="http://schemas.openxmlformats.org/package/2006/relationships"><Relationship Id="rId11" Type="http://schemas.openxmlformats.org/officeDocument/2006/relationships/image" Target="../media/image97.png"/><Relationship Id="rId10" Type="http://schemas.openxmlformats.org/officeDocument/2006/relationships/image" Target="../media/image90.png"/><Relationship Id="rId13" Type="http://schemas.openxmlformats.org/officeDocument/2006/relationships/image" Target="../media/image88.png"/><Relationship Id="rId12" Type="http://schemas.openxmlformats.org/officeDocument/2006/relationships/image" Target="../media/image84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3.png"/><Relationship Id="rId4" Type="http://schemas.openxmlformats.org/officeDocument/2006/relationships/image" Target="../media/image47.png"/><Relationship Id="rId9" Type="http://schemas.openxmlformats.org/officeDocument/2006/relationships/image" Target="../media/image83.png"/><Relationship Id="rId5" Type="http://schemas.openxmlformats.org/officeDocument/2006/relationships/image" Target="../media/image39.png"/><Relationship Id="rId6" Type="http://schemas.openxmlformats.org/officeDocument/2006/relationships/image" Target="../media/image40.png"/><Relationship Id="rId7" Type="http://schemas.openxmlformats.org/officeDocument/2006/relationships/image" Target="../media/image92.png"/><Relationship Id="rId8" Type="http://schemas.openxmlformats.org/officeDocument/2006/relationships/image" Target="../media/image62.png"/></Relationships>
</file>

<file path=ppt/slides/_rels/slide18.xml.rels><?xml version="1.0" encoding="UTF-8" standalone="yes"?><Relationships xmlns="http://schemas.openxmlformats.org/package/2006/relationships"><Relationship Id="rId11" Type="http://schemas.openxmlformats.org/officeDocument/2006/relationships/image" Target="../media/image95.png"/><Relationship Id="rId10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3.png"/><Relationship Id="rId4" Type="http://schemas.openxmlformats.org/officeDocument/2006/relationships/image" Target="../media/image47.png"/><Relationship Id="rId9" Type="http://schemas.openxmlformats.org/officeDocument/2006/relationships/image" Target="../media/image96.png"/><Relationship Id="rId5" Type="http://schemas.openxmlformats.org/officeDocument/2006/relationships/image" Target="../media/image40.png"/><Relationship Id="rId6" Type="http://schemas.openxmlformats.org/officeDocument/2006/relationships/image" Target="../media/image39.png"/><Relationship Id="rId7" Type="http://schemas.openxmlformats.org/officeDocument/2006/relationships/image" Target="../media/image98.png"/><Relationship Id="rId8" Type="http://schemas.openxmlformats.org/officeDocument/2006/relationships/image" Target="../media/image85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93.png"/><Relationship Id="rId4" Type="http://schemas.openxmlformats.org/officeDocument/2006/relationships/image" Target="../media/image47.png"/><Relationship Id="rId5" Type="http://schemas.openxmlformats.org/officeDocument/2006/relationships/image" Target="../media/image9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2600" y="86360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317500" y="2641600"/>
            <a:ext cx="17653000" cy="3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0" i="0" lang="en-US" sz="20000" u="none" cap="none" strike="noStrike">
                <a:solidFill>
                  <a:srgbClr val="BFBFBF"/>
                </a:solidFill>
                <a:latin typeface="Arial"/>
                <a:ea typeface="Arial"/>
                <a:cs typeface="Arial"/>
                <a:sym typeface="Arial"/>
              </a:rPr>
              <a:t>Programmer</a:t>
            </a:r>
            <a:endParaRPr b="0" i="0" sz="20000" u="none" cap="none" strike="noStrike">
              <a:solidFill>
                <a:srgbClr val="BFBFB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1" name="Google Shape;91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-203200" y="5130800"/>
            <a:ext cx="18681700" cy="5321300"/>
          </a:xfrm>
          <a:prstGeom prst="rect">
            <a:avLst/>
          </a:prstGeom>
          <a:noFill/>
          <a:ln>
            <a:noFill/>
          </a:ln>
          <a:effectLst>
            <a:outerShdw blurRad="352096">
              <a:srgbClr val="000000">
                <a:alpha val="14901"/>
              </a:srgbClr>
            </a:outerShdw>
          </a:effectLst>
        </p:spPr>
      </p:pic>
      <p:pic>
        <p:nvPicPr>
          <p:cNvPr id="92" name="Google Shape;92;p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3060700" y="9296400"/>
            <a:ext cx="121666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"/>
          <p:cNvSpPr txBox="1"/>
          <p:nvPr/>
        </p:nvSpPr>
        <p:spPr>
          <a:xfrm>
            <a:off x="3289300" y="9385300"/>
            <a:ext cx="1170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M.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010-4768-5892      |      </a:t>
            </a: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E.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kimhb532@gmail.com      |      </a:t>
            </a: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b="0" i="0" sz="21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 txBox="1"/>
          <p:nvPr/>
        </p:nvSpPr>
        <p:spPr>
          <a:xfrm>
            <a:off x="1981200" y="6819900"/>
            <a:ext cx="143383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한줄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소개를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입력해주세요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"/>
          <p:cNvSpPr txBox="1"/>
          <p:nvPr/>
        </p:nvSpPr>
        <p:spPr>
          <a:xfrm>
            <a:off x="4178300" y="5232400"/>
            <a:ext cx="9918700" cy="1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b="0" i="0" lang="en-US" sz="9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Kim HongBeom</a:t>
            </a:r>
            <a:endParaRPr b="0" i="0" sz="9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1"/>
          <p:cNvSpPr txBox="1"/>
          <p:nvPr/>
        </p:nvSpPr>
        <p:spPr>
          <a:xfrm>
            <a:off x="889000" y="876300"/>
            <a:ext cx="1651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 Kim HongBeom Portfolio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" name="Google Shape;10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32000"/>
            <a:ext cx="18681700" cy="8432800"/>
          </a:xfrm>
          <a:prstGeom prst="rect">
            <a:avLst/>
          </a:prstGeom>
          <a:noFill/>
          <a:ln>
            <a:noFill/>
          </a:ln>
          <a:effectLst>
            <a:outerShdw blurRad="884403">
              <a:srgbClr val="000000">
                <a:alpha val="14901"/>
              </a:srgbClr>
            </a:outerShdw>
          </a:effectLst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400" y="4635500"/>
            <a:ext cx="12712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05400" y="7226300"/>
            <a:ext cx="12712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105400" y="2476500"/>
            <a:ext cx="12712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51800" y="8953500"/>
            <a:ext cx="10922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51800" y="8267700"/>
            <a:ext cx="22352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051800" y="7594600"/>
            <a:ext cx="10922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922000" y="8267700"/>
            <a:ext cx="12700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922000" y="7594600"/>
            <a:ext cx="1092200" cy="533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922000" y="8953500"/>
            <a:ext cx="10922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"/>
          <p:cNvSpPr txBox="1"/>
          <p:nvPr/>
        </p:nvSpPr>
        <p:spPr>
          <a:xfrm>
            <a:off x="10960100" y="9029700"/>
            <a:ext cx="10160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p2"/>
          <p:cNvSpPr txBox="1"/>
          <p:nvPr/>
        </p:nvSpPr>
        <p:spPr>
          <a:xfrm>
            <a:off x="8102600" y="9029700"/>
            <a:ext cx="10033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t/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"/>
          <p:cNvSpPr txBox="1"/>
          <p:nvPr/>
        </p:nvSpPr>
        <p:spPr>
          <a:xfrm>
            <a:off x="10922000" y="8356600"/>
            <a:ext cx="12700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ComfyUI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2"/>
          <p:cNvSpPr txBox="1"/>
          <p:nvPr/>
        </p:nvSpPr>
        <p:spPr>
          <a:xfrm>
            <a:off x="8255000" y="8356600"/>
            <a:ext cx="18796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StableDiffusion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2"/>
          <p:cNvSpPr txBox="1"/>
          <p:nvPr/>
        </p:nvSpPr>
        <p:spPr>
          <a:xfrm>
            <a:off x="10922000" y="7670800"/>
            <a:ext cx="1079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Unreal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2"/>
          <p:cNvSpPr txBox="1"/>
          <p:nvPr/>
        </p:nvSpPr>
        <p:spPr>
          <a:xfrm>
            <a:off x="8064500" y="7670800"/>
            <a:ext cx="1079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C/C++</a:t>
            </a:r>
            <a:endParaRPr b="0" i="0" sz="2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2"/>
          <p:cNvSpPr txBox="1"/>
          <p:nvPr/>
        </p:nvSpPr>
        <p:spPr>
          <a:xfrm>
            <a:off x="5092700" y="7429500"/>
            <a:ext cx="29464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기술</a:t>
            </a: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Skill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10922000" y="4940300"/>
            <a:ext cx="6934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8051800" y="4940300"/>
            <a:ext cx="2590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5092700" y="4876800"/>
            <a:ext cx="29464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경력</a:t>
            </a: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Experience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"/>
          <p:cNvSpPr txBox="1"/>
          <p:nvPr/>
        </p:nvSpPr>
        <p:spPr>
          <a:xfrm>
            <a:off x="10922000" y="3200400"/>
            <a:ext cx="6934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2"/>
          <p:cNvSpPr txBox="1"/>
          <p:nvPr/>
        </p:nvSpPr>
        <p:spPr>
          <a:xfrm>
            <a:off x="8051800" y="3187700"/>
            <a:ext cx="2590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2"/>
          <p:cNvSpPr txBox="1"/>
          <p:nvPr/>
        </p:nvSpPr>
        <p:spPr>
          <a:xfrm>
            <a:off x="10922000" y="2692400"/>
            <a:ext cx="69342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제주대학교 컴퓨터 공학과 (4년중퇴)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2"/>
          <p:cNvSpPr txBox="1"/>
          <p:nvPr/>
        </p:nvSpPr>
        <p:spPr>
          <a:xfrm>
            <a:off x="8051800" y="2692400"/>
            <a:ext cx="25908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2014.02 - 2023.09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2"/>
          <p:cNvSpPr txBox="1"/>
          <p:nvPr/>
        </p:nvSpPr>
        <p:spPr>
          <a:xfrm>
            <a:off x="5092700" y="2616200"/>
            <a:ext cx="2946400" cy="40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학력</a:t>
            </a:r>
            <a:r>
              <a:rPr b="0" i="0" lang="en-US" sz="2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 Education</a:t>
            </a:r>
            <a:endParaRPr b="0" i="0" sz="23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2"/>
          <p:cNvSpPr txBox="1"/>
          <p:nvPr/>
        </p:nvSpPr>
        <p:spPr>
          <a:xfrm>
            <a:off x="876300" y="8547100"/>
            <a:ext cx="36576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010-4768-5892</a:t>
            </a:r>
            <a:endParaRPr b="0" i="0" sz="19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kimhb532@gmail.com</a:t>
            </a:r>
            <a:endParaRPr b="0" i="0" sz="19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-</a:t>
            </a:r>
            <a:endParaRPr b="0" i="0" sz="19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2"/>
          <p:cNvSpPr txBox="1"/>
          <p:nvPr/>
        </p:nvSpPr>
        <p:spPr>
          <a:xfrm>
            <a:off x="508000" y="8547100"/>
            <a:ext cx="4064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M.</a:t>
            </a:r>
            <a:endParaRPr b="0" i="0" sz="19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E.</a:t>
            </a:r>
            <a:endParaRPr b="0" i="0" sz="19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W.</a:t>
            </a:r>
            <a:endParaRPr b="0" i="0" sz="19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2"/>
          <p:cNvSpPr txBox="1"/>
          <p:nvPr/>
        </p:nvSpPr>
        <p:spPr>
          <a:xfrm>
            <a:off x="508000" y="7962900"/>
            <a:ext cx="36576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/ 1995.10.13</a:t>
            </a:r>
            <a:endParaRPr b="0" i="0" sz="1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2"/>
          <p:cNvSpPr txBox="1"/>
          <p:nvPr/>
        </p:nvSpPr>
        <p:spPr>
          <a:xfrm>
            <a:off x="508000" y="7442200"/>
            <a:ext cx="3670300" cy="48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700"/>
              <a:buFont typeface="Arial"/>
              <a:buNone/>
            </a:pPr>
            <a:r>
              <a:rPr b="0" i="0" lang="en-US" sz="27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김홍범</a:t>
            </a:r>
            <a:r>
              <a:rPr b="0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Kim Hong Beom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2"/>
          <p:cNvSpPr txBox="1"/>
          <p:nvPr/>
        </p:nvSpPr>
        <p:spPr>
          <a:xfrm>
            <a:off x="12801600" y="876300"/>
            <a:ext cx="46101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2026 Kim HongBeom Portfolio</a:t>
            </a:r>
            <a:endParaRPr b="0" i="0" sz="2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2"/>
          <p:cNvSpPr txBox="1"/>
          <p:nvPr/>
        </p:nvSpPr>
        <p:spPr>
          <a:xfrm>
            <a:off x="762000" y="673100"/>
            <a:ext cx="102489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이력사항</a:t>
            </a:r>
            <a:endParaRPr b="0" i="0" sz="40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5" name="Google Shape;135;p2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387191" y="2781300"/>
            <a:ext cx="3956208" cy="396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"/>
          <p:cNvSpPr txBox="1"/>
          <p:nvPr/>
        </p:nvSpPr>
        <p:spPr>
          <a:xfrm>
            <a:off x="3111500" y="203200"/>
            <a:ext cx="120523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0"/>
              <a:buFont typeface="Arial"/>
              <a:buNone/>
            </a:pPr>
            <a:r>
              <a:rPr b="0" i="0" lang="en-US" sz="15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Contents</a:t>
            </a:r>
            <a:endParaRPr b="0" i="0" sz="15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1" name="Google Shape;14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32000"/>
            <a:ext cx="18681700" cy="8432800"/>
          </a:xfrm>
          <a:prstGeom prst="rect">
            <a:avLst/>
          </a:prstGeom>
          <a:noFill/>
          <a:ln>
            <a:noFill/>
          </a:ln>
          <a:effectLst>
            <a:outerShdw blurRad="884403">
              <a:srgbClr val="000000">
                <a:alpha val="14901"/>
              </a:srgbClr>
            </a:outerShdw>
          </a:effectLst>
        </p:spPr>
      </p:pic>
      <p:pic>
        <p:nvPicPr>
          <p:cNvPr id="142" name="Google Shape;14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4800" y="3848100"/>
            <a:ext cx="15151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4800" y="5334000"/>
            <a:ext cx="15151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4" name="Google Shape;144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4800" y="6807200"/>
            <a:ext cx="15151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5" name="Google Shape;145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74800" y="8280400"/>
            <a:ext cx="15151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4600" y="28321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 rot="2700000">
            <a:off x="9029700" y="300990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4600" y="43180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9029700" y="448310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4600" y="57912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9029700" y="595630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4600" y="72771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9029700" y="7442200"/>
            <a:ext cx="241300" cy="241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864600" y="8750300"/>
            <a:ext cx="571500" cy="57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rot="2700000">
            <a:off x="9029700" y="8915400"/>
            <a:ext cx="241300" cy="2413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"/>
          <p:cNvSpPr txBox="1"/>
          <p:nvPr/>
        </p:nvSpPr>
        <p:spPr>
          <a:xfrm>
            <a:off x="10096500" y="8851900"/>
            <a:ext cx="6680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간단히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소개해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 txBox="1"/>
          <p:nvPr/>
        </p:nvSpPr>
        <p:spPr>
          <a:xfrm>
            <a:off x="2654300" y="8737600"/>
            <a:ext cx="549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프로젝트명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3"/>
          <p:cNvSpPr txBox="1"/>
          <p:nvPr/>
        </p:nvSpPr>
        <p:spPr>
          <a:xfrm>
            <a:off x="1536700" y="8801100"/>
            <a:ext cx="7112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25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9" name="Google Shape;159;p3"/>
          <p:cNvSpPr txBox="1"/>
          <p:nvPr/>
        </p:nvSpPr>
        <p:spPr>
          <a:xfrm>
            <a:off x="10096500" y="7366000"/>
            <a:ext cx="6680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간단히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소개해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0" name="Google Shape;160;p3"/>
          <p:cNvSpPr txBox="1"/>
          <p:nvPr/>
        </p:nvSpPr>
        <p:spPr>
          <a:xfrm>
            <a:off x="2654300" y="7251700"/>
            <a:ext cx="45593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프로젝트명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3"/>
          <p:cNvSpPr txBox="1"/>
          <p:nvPr/>
        </p:nvSpPr>
        <p:spPr>
          <a:xfrm>
            <a:off x="1536700" y="7327900"/>
            <a:ext cx="7112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25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 txBox="1"/>
          <p:nvPr/>
        </p:nvSpPr>
        <p:spPr>
          <a:xfrm>
            <a:off x="10096500" y="5892800"/>
            <a:ext cx="6680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AI기반 Online 면접 플랫폼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3"/>
          <p:cNvSpPr txBox="1"/>
          <p:nvPr/>
        </p:nvSpPr>
        <p:spPr>
          <a:xfrm>
            <a:off x="2654300" y="5778500"/>
            <a:ext cx="549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AI&amp;UE Co-Project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ReNe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1536700" y="5842000"/>
            <a:ext cx="7112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5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5" name="Google Shape;165;p3"/>
          <p:cNvSpPr txBox="1"/>
          <p:nvPr/>
        </p:nvSpPr>
        <p:spPr>
          <a:xfrm>
            <a:off x="10096500" y="4419600"/>
            <a:ext cx="6680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멀티플레이 구현 목표 프로젝트. 햄버거 제작 시뮬레이션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3"/>
          <p:cNvSpPr txBox="1"/>
          <p:nvPr/>
        </p:nvSpPr>
        <p:spPr>
          <a:xfrm>
            <a:off x="2654300" y="4305300"/>
            <a:ext cx="549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t/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3"/>
          <p:cNvSpPr txBox="1"/>
          <p:nvPr/>
        </p:nvSpPr>
        <p:spPr>
          <a:xfrm>
            <a:off x="1536700" y="4368800"/>
            <a:ext cx="7112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5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8" name="Google Shape;168;p3"/>
          <p:cNvSpPr txBox="1"/>
          <p:nvPr/>
        </p:nvSpPr>
        <p:spPr>
          <a:xfrm>
            <a:off x="10096500" y="2933700"/>
            <a:ext cx="6680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탄도학 중심으로 모던워페어3 에펠탑 미션 연출하기</a:t>
            </a:r>
            <a:endParaRPr b="0" i="0" sz="2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3"/>
          <p:cNvSpPr txBox="1"/>
          <p:nvPr/>
        </p:nvSpPr>
        <p:spPr>
          <a:xfrm>
            <a:off x="2654300" y="2819400"/>
            <a:ext cx="549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물리역학기반 프로젝트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CoD:MW3 모작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3"/>
          <p:cNvSpPr txBox="1"/>
          <p:nvPr/>
        </p:nvSpPr>
        <p:spPr>
          <a:xfrm>
            <a:off x="1536700" y="2895600"/>
            <a:ext cx="7112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500" u="none" cap="none" strike="noStrike">
              <a:solidFill>
                <a:srgbClr val="FF3C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"/>
          <p:cNvSpPr txBox="1"/>
          <p:nvPr/>
        </p:nvSpPr>
        <p:spPr>
          <a:xfrm>
            <a:off x="2667000" y="4305300"/>
            <a:ext cx="54991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Multiplay 프로젝트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자작 : MHGA</a:t>
            </a:r>
            <a:endParaRPr b="0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Google Shape;17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177" name="Google Shape;177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900" y="8470900"/>
            <a:ext cx="54737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900" y="8978900"/>
            <a:ext cx="54737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4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2025.08 - 2025.09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4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물리기반 MW3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4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4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4"/>
          <p:cNvSpPr txBox="1"/>
          <p:nvPr/>
        </p:nvSpPr>
        <p:spPr>
          <a:xfrm>
            <a:off x="584200" y="8509000"/>
            <a:ext cx="5295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Point 1.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업무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포인트를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4"/>
          <p:cNvSpPr txBox="1"/>
          <p:nvPr/>
        </p:nvSpPr>
        <p:spPr>
          <a:xfrm>
            <a:off x="584200" y="9017000"/>
            <a:ext cx="52959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Point 2.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업무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포인트를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4"/>
          <p:cNvSpPr txBox="1"/>
          <p:nvPr/>
        </p:nvSpPr>
        <p:spPr>
          <a:xfrm>
            <a:off x="1524000" y="3086100"/>
            <a:ext cx="5181600" cy="17316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 소개.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프로젝트에 들어간 내 분량 :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총기 탄도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Ally NPC AI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Story Manager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4" name="Google Shape;194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195" name="Google Shape;195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5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5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01-1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5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5"/>
          <p:cNvSpPr txBox="1"/>
          <p:nvPr/>
        </p:nvSpPr>
        <p:spPr>
          <a:xfrm>
            <a:off x="4038600" y="7239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탄도 시스템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5"/>
          <p:cNvSpPr txBox="1"/>
          <p:nvPr/>
        </p:nvSpPr>
        <p:spPr>
          <a:xfrm>
            <a:off x="685800" y="2552700"/>
            <a:ext cx="815340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총알의 움직임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물리엔진으로 AddForce 하면 너무 무겁다.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탄도학의 수학식을 적용해서 직접 좌표 계산하자 (Velocity base)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* teleport 문제 있음. -&gt; linetrace 보정 필요.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" name="Google Shape;20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208" name="Google Shape;208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6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Ally NPC AI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01-2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6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6"/>
          <p:cNvSpPr txBox="1"/>
          <p:nvPr/>
        </p:nvSpPr>
        <p:spPr>
          <a:xfrm>
            <a:off x="1143000" y="2781300"/>
            <a:ext cx="1059180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Ally AI NPC 캐릭터 구현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FSM 기반 구현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스토리 매니저와 연계해서 플레이어의 특정위치 도착 여부로 현재 페이즈의 지정된 위치로 이동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698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220" name="Google Shape;220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2" name="Google Shape;222;p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7"/>
          <p:cNvSpPr txBox="1"/>
          <p:nvPr/>
        </p:nvSpPr>
        <p:spPr>
          <a:xfrm>
            <a:off x="3822700" y="762000"/>
            <a:ext cx="7632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Story Manager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7"/>
          <p:cNvSpPr txBox="1"/>
          <p:nvPr/>
        </p:nvSpPr>
        <p:spPr>
          <a:xfrm>
            <a:off x="2857500" y="863600"/>
            <a:ext cx="69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01-2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7"/>
          <p:cNvSpPr txBox="1"/>
          <p:nvPr/>
        </p:nvSpPr>
        <p:spPr>
          <a:xfrm>
            <a:off x="876300" y="711200"/>
            <a:ext cx="2057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CoD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7"/>
          <p:cNvSpPr txBox="1"/>
          <p:nvPr/>
        </p:nvSpPr>
        <p:spPr>
          <a:xfrm>
            <a:off x="1143000" y="2781300"/>
            <a:ext cx="105918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Story Manager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Designe patter 기반 설계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Ally NPC들 -&gt; Manager , data 송신 | 수신 후 처리 -&gt; NPC 송신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기획자와 협력 생각해서 데이터 테이블로 위치값들 모아놓은거 이용함함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" name="Google Shape;23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698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232" name="Google Shape;232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900" y="8470900"/>
            <a:ext cx="54737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900" y="8978900"/>
            <a:ext cx="54737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8"/>
          <p:cNvSpPr txBox="1"/>
          <p:nvPr/>
        </p:nvSpPr>
        <p:spPr>
          <a:xfrm>
            <a:off x="15519400" y="2489200"/>
            <a:ext cx="2324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2025.08 - 2025.09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8"/>
          <p:cNvSpPr txBox="1"/>
          <p:nvPr/>
        </p:nvSpPr>
        <p:spPr>
          <a:xfrm>
            <a:off x="14300200" y="2476500"/>
            <a:ext cx="1130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8"/>
          <p:cNvSpPr txBox="1"/>
          <p:nvPr/>
        </p:nvSpPr>
        <p:spPr>
          <a:xfrm>
            <a:off x="3822700" y="762000"/>
            <a:ext cx="7632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MHGA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8"/>
          <p:cNvSpPr txBox="1"/>
          <p:nvPr/>
        </p:nvSpPr>
        <p:spPr>
          <a:xfrm>
            <a:off x="2857500" y="863600"/>
            <a:ext cx="69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8"/>
          <p:cNvSpPr txBox="1"/>
          <p:nvPr/>
        </p:nvSpPr>
        <p:spPr>
          <a:xfrm>
            <a:off x="876300" y="711200"/>
            <a:ext cx="2057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8"/>
          <p:cNvSpPr txBox="1"/>
          <p:nvPr/>
        </p:nvSpPr>
        <p:spPr>
          <a:xfrm>
            <a:off x="584200" y="8509000"/>
            <a:ext cx="5295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Point 1.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업무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포인트를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8"/>
          <p:cNvSpPr txBox="1"/>
          <p:nvPr/>
        </p:nvSpPr>
        <p:spPr>
          <a:xfrm>
            <a:off x="584200" y="9017000"/>
            <a:ext cx="5295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Point 2.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업무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포인트를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4" name="Google Shape;244;p8"/>
          <p:cNvSpPr txBox="1"/>
          <p:nvPr/>
        </p:nvSpPr>
        <p:spPr>
          <a:xfrm>
            <a:off x="1524000" y="3086100"/>
            <a:ext cx="5181600" cy="12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 소개.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프로젝트에 들어간 내 분량 :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햄버거 포장지 시스템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698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250" name="Google Shape;25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2" name="Google Shape;252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3" name="Google Shape;253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900" y="8470900"/>
            <a:ext cx="54737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4" name="Google Shape;254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900" y="8978900"/>
            <a:ext cx="54737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9"/>
          <p:cNvSpPr txBox="1"/>
          <p:nvPr/>
        </p:nvSpPr>
        <p:spPr>
          <a:xfrm>
            <a:off x="15519400" y="2489200"/>
            <a:ext cx="2324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2025.08 - 2025.09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9"/>
          <p:cNvSpPr txBox="1"/>
          <p:nvPr/>
        </p:nvSpPr>
        <p:spPr>
          <a:xfrm>
            <a:off x="14300200" y="2476500"/>
            <a:ext cx="1130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9"/>
          <p:cNvSpPr txBox="1"/>
          <p:nvPr/>
        </p:nvSpPr>
        <p:spPr>
          <a:xfrm>
            <a:off x="3822700" y="762000"/>
            <a:ext cx="7632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MHGA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9"/>
          <p:cNvSpPr txBox="1"/>
          <p:nvPr/>
        </p:nvSpPr>
        <p:spPr>
          <a:xfrm>
            <a:off x="2857500" y="863600"/>
            <a:ext cx="69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9" name="Google Shape;259;p9"/>
          <p:cNvSpPr txBox="1"/>
          <p:nvPr/>
        </p:nvSpPr>
        <p:spPr>
          <a:xfrm>
            <a:off x="876300" y="711200"/>
            <a:ext cx="2057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9"/>
          <p:cNvSpPr txBox="1"/>
          <p:nvPr/>
        </p:nvSpPr>
        <p:spPr>
          <a:xfrm>
            <a:off x="584200" y="8509000"/>
            <a:ext cx="5295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Point 1.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업무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포인트를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1" name="Google Shape;261;p9"/>
          <p:cNvSpPr txBox="1"/>
          <p:nvPr/>
        </p:nvSpPr>
        <p:spPr>
          <a:xfrm>
            <a:off x="584200" y="9017000"/>
            <a:ext cx="5295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Point 2.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업무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포인트를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2" name="Google Shape;262;p9"/>
          <p:cNvSpPr txBox="1"/>
          <p:nvPr/>
        </p:nvSpPr>
        <p:spPr>
          <a:xfrm>
            <a:off x="1524000" y="3086100"/>
            <a:ext cx="12776100" cy="28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햄버거 포장지는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충돌감지 -&gt; 검사과정(인식,중복,예외 등) -&gt; 확인후 포장지 내의 배열에 튜?플로서 저장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충돌 해제 -&gt; 검사과정(인식, 중복, 예외 등) -&gt; 확인 후 포장내부 배열에서 삭제. (삭제 처리중 메모리 해제 등 주의)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제작트리거 -&gt; 배열내부 검사 -&gt; DT 조회 후 판정 -&gt; 결과 배출(O/X)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멀티 플레이 고려. RPC/Rep 처리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7" name="Google Shape;26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698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268" name="Google Shape;26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9" name="Google Shape;26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900" y="8470900"/>
            <a:ext cx="54737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2" name="Google Shape;272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900" y="8978900"/>
            <a:ext cx="54737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0"/>
          <p:cNvSpPr txBox="1"/>
          <p:nvPr/>
        </p:nvSpPr>
        <p:spPr>
          <a:xfrm>
            <a:off x="15519400" y="2489200"/>
            <a:ext cx="2324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2025.08 - 2025.09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4" name="Google Shape;274;p10"/>
          <p:cNvSpPr txBox="1"/>
          <p:nvPr/>
        </p:nvSpPr>
        <p:spPr>
          <a:xfrm>
            <a:off x="14300200" y="2476500"/>
            <a:ext cx="1130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0"/>
          <p:cNvSpPr txBox="1"/>
          <p:nvPr/>
        </p:nvSpPr>
        <p:spPr>
          <a:xfrm>
            <a:off x="3822700" y="762000"/>
            <a:ext cx="7632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ReNe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10"/>
          <p:cNvSpPr txBox="1"/>
          <p:nvPr/>
        </p:nvSpPr>
        <p:spPr>
          <a:xfrm>
            <a:off x="2857500" y="863600"/>
            <a:ext cx="69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7" name="Google Shape;277;p10"/>
          <p:cNvSpPr txBox="1"/>
          <p:nvPr/>
        </p:nvSpPr>
        <p:spPr>
          <a:xfrm>
            <a:off x="876300" y="711200"/>
            <a:ext cx="2057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8" name="Google Shape;278;p10"/>
          <p:cNvSpPr txBox="1"/>
          <p:nvPr/>
        </p:nvSpPr>
        <p:spPr>
          <a:xfrm>
            <a:off x="584200" y="8509000"/>
            <a:ext cx="5295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Point 1.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업무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포인트를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10"/>
          <p:cNvSpPr txBox="1"/>
          <p:nvPr/>
        </p:nvSpPr>
        <p:spPr>
          <a:xfrm>
            <a:off x="584200" y="9017000"/>
            <a:ext cx="5295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Point 2.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업무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포인트를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0" name="Google Shape;280;p10"/>
          <p:cNvSpPr txBox="1"/>
          <p:nvPr/>
        </p:nvSpPr>
        <p:spPr>
          <a:xfrm>
            <a:off x="1524000" y="3086100"/>
            <a:ext cx="51816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 소개.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프로젝트에 들어간 내 분량 :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Multiplay Session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WebViewer &lt; &gt;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3. Common UI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5" name="Google Shape;285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698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286" name="Google Shape;286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7" name="Google Shape;287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8" name="Google Shape;288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9" name="Google Shape;289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900" y="8470900"/>
            <a:ext cx="54737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900" y="8978900"/>
            <a:ext cx="5473700" cy="444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11"/>
          <p:cNvSpPr txBox="1"/>
          <p:nvPr/>
        </p:nvSpPr>
        <p:spPr>
          <a:xfrm>
            <a:off x="15519400" y="2489200"/>
            <a:ext cx="2324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2025.08 - 2025.09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2" name="Google Shape;292;p11"/>
          <p:cNvSpPr txBox="1"/>
          <p:nvPr/>
        </p:nvSpPr>
        <p:spPr>
          <a:xfrm>
            <a:off x="14300200" y="2476500"/>
            <a:ext cx="11304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1"/>
          <p:cNvSpPr txBox="1"/>
          <p:nvPr/>
        </p:nvSpPr>
        <p:spPr>
          <a:xfrm>
            <a:off x="3822700" y="762000"/>
            <a:ext cx="7632600" cy="622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ReNe</a:t>
            </a:r>
            <a:endParaRPr b="0" i="0" sz="35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11"/>
          <p:cNvSpPr txBox="1"/>
          <p:nvPr/>
        </p:nvSpPr>
        <p:spPr>
          <a:xfrm>
            <a:off x="2857500" y="863600"/>
            <a:ext cx="698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22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11"/>
          <p:cNvSpPr txBox="1"/>
          <p:nvPr/>
        </p:nvSpPr>
        <p:spPr>
          <a:xfrm>
            <a:off x="876300" y="711200"/>
            <a:ext cx="2057400" cy="71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40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6" name="Google Shape;296;p11"/>
          <p:cNvSpPr txBox="1"/>
          <p:nvPr/>
        </p:nvSpPr>
        <p:spPr>
          <a:xfrm>
            <a:off x="584200" y="8509000"/>
            <a:ext cx="5295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Point 1.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업무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포인트를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7" name="Google Shape;297;p11"/>
          <p:cNvSpPr txBox="1"/>
          <p:nvPr/>
        </p:nvSpPr>
        <p:spPr>
          <a:xfrm>
            <a:off x="584200" y="9017000"/>
            <a:ext cx="5295900" cy="355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Point 2.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업무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포인트를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8" name="Google Shape;298;p11"/>
          <p:cNvSpPr txBox="1"/>
          <p:nvPr/>
        </p:nvSpPr>
        <p:spPr>
          <a:xfrm>
            <a:off x="1524000" y="3086100"/>
            <a:ext cx="5181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 소개.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프로젝트에 들어간 내 분량 : 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 Multiplay Session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2. WebViewer &lt; &gt; Server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" name="Google Shape;303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304" name="Google Shape;30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5" name="Google Shape;305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1800" y="8470900"/>
            <a:ext cx="84836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8" name="Google Shape;308;p12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2600" y="3606800"/>
            <a:ext cx="8483600" cy="600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9" name="Google Shape;309;p12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900" y="3606800"/>
            <a:ext cx="8483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0" name="Google Shape;310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21800" y="3606800"/>
            <a:ext cx="84709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1" name="Google Shape;311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21800" y="5207000"/>
            <a:ext cx="84709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2" name="Google Shape;312;p12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9321800" y="6794500"/>
            <a:ext cx="84709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2"/>
          <p:cNvSpPr txBox="1"/>
          <p:nvPr/>
        </p:nvSpPr>
        <p:spPr>
          <a:xfrm>
            <a:off x="15519400" y="28321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12"/>
          <p:cNvSpPr txBox="1"/>
          <p:nvPr/>
        </p:nvSpPr>
        <p:spPr>
          <a:xfrm>
            <a:off x="14300200" y="28194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기여도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2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2080.00 - 2080.00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6" name="Google Shape;316;p12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" name="Google Shape;317;p12"/>
          <p:cNvSpPr txBox="1"/>
          <p:nvPr/>
        </p:nvSpPr>
        <p:spPr>
          <a:xfrm>
            <a:off x="482600" y="2463800"/>
            <a:ext cx="124079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이내로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작성해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8" name="Google Shape;318;p12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업무의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핵심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성과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9" name="Google Shape;319;p12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2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2"/>
          <p:cNvSpPr txBox="1"/>
          <p:nvPr/>
        </p:nvSpPr>
        <p:spPr>
          <a:xfrm>
            <a:off x="14160500" y="8763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2080 Kim Mi-ri Portfolio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2"/>
          <p:cNvSpPr txBox="1"/>
          <p:nvPr/>
        </p:nvSpPr>
        <p:spPr>
          <a:xfrm>
            <a:off x="9537700" y="8648700"/>
            <a:ext cx="8153400" cy="82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결론을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요약하여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써주세요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경험에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결과를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잘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보여주는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KPI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를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300" u="none" cap="none" strike="noStrike">
                <a:solidFill>
                  <a:srgbClr val="FF3C00"/>
                </a:solidFill>
                <a:latin typeface="Calibri"/>
                <a:ea typeface="Calibri"/>
                <a:cs typeface="Calibri"/>
                <a:sym typeface="Calibri"/>
              </a:rPr>
              <a:t>풀어주세요</a:t>
            </a:r>
            <a:r>
              <a:rPr b="0" i="0" lang="en-US" sz="23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2"/>
          <p:cNvSpPr txBox="1"/>
          <p:nvPr/>
        </p:nvSpPr>
        <p:spPr>
          <a:xfrm>
            <a:off x="9321800" y="4381500"/>
            <a:ext cx="8509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2"/>
          <p:cNvSpPr txBox="1"/>
          <p:nvPr/>
        </p:nvSpPr>
        <p:spPr>
          <a:xfrm>
            <a:off x="9321800" y="3822700"/>
            <a:ext cx="8534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5" name="Google Shape;325;p12"/>
          <p:cNvSpPr txBox="1"/>
          <p:nvPr/>
        </p:nvSpPr>
        <p:spPr>
          <a:xfrm>
            <a:off x="9321800" y="5943600"/>
            <a:ext cx="8509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생산성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증가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2"/>
          <p:cNvSpPr txBox="1"/>
          <p:nvPr/>
        </p:nvSpPr>
        <p:spPr>
          <a:xfrm>
            <a:off x="9321800" y="5397500"/>
            <a:ext cx="8534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생산성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증가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12"/>
          <p:cNvSpPr txBox="1"/>
          <p:nvPr/>
        </p:nvSpPr>
        <p:spPr>
          <a:xfrm>
            <a:off x="9321800" y="7531100"/>
            <a:ext cx="8509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12"/>
          <p:cNvSpPr txBox="1"/>
          <p:nvPr/>
        </p:nvSpPr>
        <p:spPr>
          <a:xfrm>
            <a:off x="9321800" y="6985000"/>
            <a:ext cx="85344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3" name="Google Shape;33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334" name="Google Shape;334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0" y="3594100"/>
            <a:ext cx="10198100" cy="601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5" name="Google Shape;335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6" name="Google Shape;336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38608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59436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80391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0" name="Google Shape;34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57200" y="3606800"/>
            <a:ext cx="6858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2" name="Google Shape;342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620000" y="3594100"/>
            <a:ext cx="101981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3" name="Google Shape;343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7200" y="5676900"/>
            <a:ext cx="6858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4" name="Google Shape;344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200" y="7747000"/>
            <a:ext cx="6858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5" name="Google Shape;345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772400" y="3911600"/>
            <a:ext cx="9867900" cy="553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6" name="Google Shape;346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635000" y="6121400"/>
            <a:ext cx="8128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7" name="Google Shape;347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749300" y="8343900"/>
            <a:ext cx="558800" cy="52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8" name="Google Shape;348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660400" y="4025900"/>
            <a:ext cx="812800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13"/>
          <p:cNvSpPr txBox="1"/>
          <p:nvPr/>
        </p:nvSpPr>
        <p:spPr>
          <a:xfrm>
            <a:off x="15519400" y="28321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3"/>
          <p:cNvSpPr txBox="1"/>
          <p:nvPr/>
        </p:nvSpPr>
        <p:spPr>
          <a:xfrm>
            <a:off x="14300200" y="28194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기여도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3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2080.00 - 2080.00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2" name="Google Shape;352;p13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13"/>
          <p:cNvSpPr txBox="1"/>
          <p:nvPr/>
        </p:nvSpPr>
        <p:spPr>
          <a:xfrm>
            <a:off x="482600" y="2463800"/>
            <a:ext cx="124079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이내로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작성해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4" name="Google Shape;354;p13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프로젝트를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통해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얻은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인사이트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5" name="Google Shape;355;p13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3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3"/>
          <p:cNvSpPr txBox="1"/>
          <p:nvPr/>
        </p:nvSpPr>
        <p:spPr>
          <a:xfrm>
            <a:off x="14160500" y="8763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2080 Kim Mi-ri Portfolio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3"/>
          <p:cNvSpPr txBox="1"/>
          <p:nvPr/>
        </p:nvSpPr>
        <p:spPr>
          <a:xfrm>
            <a:off x="1841500" y="4368800"/>
            <a:ext cx="55245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니즈에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요약해서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3"/>
          <p:cNvSpPr txBox="1"/>
          <p:nvPr/>
        </p:nvSpPr>
        <p:spPr>
          <a:xfrm>
            <a:off x="1841500" y="3797300"/>
            <a:ext cx="553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니즈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3"/>
          <p:cNvSpPr txBox="1"/>
          <p:nvPr/>
        </p:nvSpPr>
        <p:spPr>
          <a:xfrm>
            <a:off x="1841500" y="6451600"/>
            <a:ext cx="55245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문제상황에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요약해서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13"/>
          <p:cNvSpPr txBox="1"/>
          <p:nvPr/>
        </p:nvSpPr>
        <p:spPr>
          <a:xfrm>
            <a:off x="1841500" y="5880100"/>
            <a:ext cx="553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기회상황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13"/>
          <p:cNvSpPr txBox="1"/>
          <p:nvPr/>
        </p:nvSpPr>
        <p:spPr>
          <a:xfrm>
            <a:off x="1841500" y="8521700"/>
            <a:ext cx="55245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비교대상에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요약해서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p13"/>
          <p:cNvSpPr txBox="1"/>
          <p:nvPr/>
        </p:nvSpPr>
        <p:spPr>
          <a:xfrm>
            <a:off x="1841500" y="7962900"/>
            <a:ext cx="553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비교대상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369" name="Google Shape;369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0" name="Google Shape;370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1" name="Google Shape;371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5346700"/>
            <a:ext cx="17348200" cy="426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2" name="Google Shape;372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7200" y="38227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413500" y="38227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4" name="Google Shape;374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2331700" y="3822700"/>
            <a:ext cx="11430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572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9900" y="3606800"/>
            <a:ext cx="5473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413500" y="3606800"/>
            <a:ext cx="5473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8" name="Google Shape;37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331700" y="3606800"/>
            <a:ext cx="5473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9" name="Google Shape;379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98500" y="5486400"/>
            <a:ext cx="16700500" cy="398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35000" y="3987800"/>
            <a:ext cx="8128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1" name="Google Shape;381;p14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578600" y="3987800"/>
            <a:ext cx="812800" cy="81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2" name="Google Shape;382;p14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2496800" y="3987800"/>
            <a:ext cx="812800" cy="8128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14"/>
          <p:cNvSpPr txBox="1"/>
          <p:nvPr/>
        </p:nvSpPr>
        <p:spPr>
          <a:xfrm>
            <a:off x="15519400" y="28321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4" name="Google Shape;384;p14"/>
          <p:cNvSpPr txBox="1"/>
          <p:nvPr/>
        </p:nvSpPr>
        <p:spPr>
          <a:xfrm>
            <a:off x="14300200" y="28194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기여도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5" name="Google Shape;385;p14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2080.00 - 2080.00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6" name="Google Shape;386;p14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7" name="Google Shape;387;p14"/>
          <p:cNvSpPr txBox="1"/>
          <p:nvPr/>
        </p:nvSpPr>
        <p:spPr>
          <a:xfrm>
            <a:off x="482600" y="2463800"/>
            <a:ext cx="124079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이내로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작성해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8" name="Google Shape;388;p14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프로젝트를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통해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얻은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인사이트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9" name="Google Shape;389;p14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0" name="Google Shape;390;p14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14"/>
          <p:cNvSpPr txBox="1"/>
          <p:nvPr/>
        </p:nvSpPr>
        <p:spPr>
          <a:xfrm>
            <a:off x="14160500" y="8763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2080 Kim Mi-ri Portfolio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2" name="Google Shape;392;p14"/>
          <p:cNvSpPr txBox="1"/>
          <p:nvPr/>
        </p:nvSpPr>
        <p:spPr>
          <a:xfrm>
            <a:off x="13576300" y="4292600"/>
            <a:ext cx="4241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3" name="Google Shape;393;p14"/>
          <p:cNvSpPr txBox="1"/>
          <p:nvPr/>
        </p:nvSpPr>
        <p:spPr>
          <a:xfrm>
            <a:off x="13614400" y="3771900"/>
            <a:ext cx="426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및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4" name="Google Shape;394;p14"/>
          <p:cNvSpPr txBox="1"/>
          <p:nvPr/>
        </p:nvSpPr>
        <p:spPr>
          <a:xfrm>
            <a:off x="7683500" y="4292600"/>
            <a:ext cx="4241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14"/>
          <p:cNvSpPr txBox="1"/>
          <p:nvPr/>
        </p:nvSpPr>
        <p:spPr>
          <a:xfrm>
            <a:off x="7683500" y="3771900"/>
            <a:ext cx="426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생산성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증가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6" name="Google Shape;396;p14"/>
          <p:cNvSpPr txBox="1"/>
          <p:nvPr/>
        </p:nvSpPr>
        <p:spPr>
          <a:xfrm>
            <a:off x="1752600" y="4292600"/>
            <a:ext cx="4241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7" name="Google Shape;397;p14"/>
          <p:cNvSpPr txBox="1"/>
          <p:nvPr/>
        </p:nvSpPr>
        <p:spPr>
          <a:xfrm>
            <a:off x="1752600" y="3771900"/>
            <a:ext cx="426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2" name="Google Shape;40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403" name="Google Shape;40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4" name="Google Shape;40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5" name="Google Shape;40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14400" y="3606800"/>
            <a:ext cx="4191000" cy="29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6" name="Google Shape;40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321800" y="3606800"/>
            <a:ext cx="4191000" cy="294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7" name="Google Shape;407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9321800" y="6654800"/>
            <a:ext cx="8483600" cy="295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08000" y="4394200"/>
            <a:ext cx="2730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3390900" y="4394200"/>
            <a:ext cx="2730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286500" y="4394200"/>
            <a:ext cx="2730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572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2" name="Google Shape;412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57200" y="3606800"/>
            <a:ext cx="8572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3" name="Google Shape;413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200" y="5676900"/>
            <a:ext cx="8572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4" name="Google Shape;414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57200" y="7747000"/>
            <a:ext cx="8572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9321800" y="3606800"/>
            <a:ext cx="4191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6" name="Google Shape;416;p15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9321800" y="6654800"/>
            <a:ext cx="8483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7" name="Google Shape;417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3601700" y="3606800"/>
            <a:ext cx="4191000" cy="254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15"/>
          <p:cNvSpPr txBox="1"/>
          <p:nvPr/>
        </p:nvSpPr>
        <p:spPr>
          <a:xfrm>
            <a:off x="15519400" y="28321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9" name="Google Shape;419;p15"/>
          <p:cNvSpPr txBox="1"/>
          <p:nvPr/>
        </p:nvSpPr>
        <p:spPr>
          <a:xfrm>
            <a:off x="14300200" y="28194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기여도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0" name="Google Shape;420;p15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2080.00 - 2080.00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15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2" name="Google Shape;422;p15"/>
          <p:cNvSpPr txBox="1"/>
          <p:nvPr/>
        </p:nvSpPr>
        <p:spPr>
          <a:xfrm>
            <a:off x="482600" y="2463800"/>
            <a:ext cx="124079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이내로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작성해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3" name="Google Shape;423;p15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업무를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수행하며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얻은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개선점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4" name="Google Shape;424;p15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15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6" name="Google Shape;426;p15"/>
          <p:cNvSpPr txBox="1"/>
          <p:nvPr/>
        </p:nvSpPr>
        <p:spPr>
          <a:xfrm>
            <a:off x="14160500" y="8763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2080 Kim Mi-ri Portfolio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7" name="Google Shape;427;p15"/>
          <p:cNvSpPr txBox="1"/>
          <p:nvPr/>
        </p:nvSpPr>
        <p:spPr>
          <a:xfrm>
            <a:off x="457200" y="3797300"/>
            <a:ext cx="863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니즈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8" name="Google Shape;428;p15"/>
          <p:cNvSpPr txBox="1"/>
          <p:nvPr/>
        </p:nvSpPr>
        <p:spPr>
          <a:xfrm>
            <a:off x="457200" y="6489700"/>
            <a:ext cx="55245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문제상황에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요약해서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15"/>
          <p:cNvSpPr txBox="1"/>
          <p:nvPr/>
        </p:nvSpPr>
        <p:spPr>
          <a:xfrm>
            <a:off x="457200" y="5880100"/>
            <a:ext cx="553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기회상황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15"/>
          <p:cNvSpPr txBox="1"/>
          <p:nvPr/>
        </p:nvSpPr>
        <p:spPr>
          <a:xfrm>
            <a:off x="457200" y="8559800"/>
            <a:ext cx="55245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비교대상에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요약해서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1" name="Google Shape;431;p15"/>
          <p:cNvSpPr txBox="1"/>
          <p:nvPr/>
        </p:nvSpPr>
        <p:spPr>
          <a:xfrm>
            <a:off x="457200" y="7962900"/>
            <a:ext cx="553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비교대상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2" name="Google Shape;432;p15"/>
          <p:cNvSpPr txBox="1"/>
          <p:nvPr/>
        </p:nvSpPr>
        <p:spPr>
          <a:xfrm>
            <a:off x="609600" y="47117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니즈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3" name="Google Shape;433;p15"/>
          <p:cNvSpPr txBox="1"/>
          <p:nvPr/>
        </p:nvSpPr>
        <p:spPr>
          <a:xfrm>
            <a:off x="3505200" y="47117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니즈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4" name="Google Shape;434;p15"/>
          <p:cNvSpPr txBox="1"/>
          <p:nvPr/>
        </p:nvSpPr>
        <p:spPr>
          <a:xfrm>
            <a:off x="6388100" y="47117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니즈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9" name="Google Shape;439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440" name="Google Shape;440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000" y="4394200"/>
            <a:ext cx="46609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1200" y="4394200"/>
            <a:ext cx="46736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000" y="6464300"/>
            <a:ext cx="46609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1200" y="6464300"/>
            <a:ext cx="46736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7" name="Google Shape;447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08000" y="8547100"/>
            <a:ext cx="46609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8" name="Google Shape;448;p1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91200" y="8547100"/>
            <a:ext cx="46736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9" name="Google Shape;449;p1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4287500" y="3619500"/>
            <a:ext cx="3530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16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680700" y="3619500"/>
            <a:ext cx="3530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16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287500" y="5689600"/>
            <a:ext cx="3530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2" name="Google Shape;452;p16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4287500" y="7759700"/>
            <a:ext cx="3530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3" name="Google Shape;453;p16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0680700" y="7759700"/>
            <a:ext cx="3530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4" name="Google Shape;454;p16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0680700" y="5689600"/>
            <a:ext cx="3530600" cy="171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5" name="Google Shape;455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257800" y="4622800"/>
            <a:ext cx="4445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6" name="Google Shape;456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2700000">
            <a:off x="5384800" y="4762500"/>
            <a:ext cx="177800" cy="1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257800" y="6692900"/>
            <a:ext cx="4445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2700000">
            <a:off x="5384800" y="6832600"/>
            <a:ext cx="177800" cy="1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5257800" y="8775700"/>
            <a:ext cx="444500" cy="44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16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 rot="2700000">
            <a:off x="5384800" y="8902700"/>
            <a:ext cx="177800" cy="17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1" name="Google Shape;461;p16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57200" y="3606800"/>
            <a:ext cx="10007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2" name="Google Shape;462;p16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57200" y="5676900"/>
            <a:ext cx="10007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3" name="Google Shape;463;p16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57200" y="7747000"/>
            <a:ext cx="100076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4274800" y="3606800"/>
            <a:ext cx="35306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5" name="Google Shape;465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680700" y="3606800"/>
            <a:ext cx="35306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4274800" y="5676900"/>
            <a:ext cx="35306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7" name="Google Shape;467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680700" y="5676900"/>
            <a:ext cx="35306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4274800" y="7747000"/>
            <a:ext cx="3530600" cy="1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16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680700" y="7747000"/>
            <a:ext cx="3530600" cy="127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16"/>
          <p:cNvSpPr txBox="1"/>
          <p:nvPr/>
        </p:nvSpPr>
        <p:spPr>
          <a:xfrm>
            <a:off x="15519400" y="28321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1" name="Google Shape;471;p16"/>
          <p:cNvSpPr txBox="1"/>
          <p:nvPr/>
        </p:nvSpPr>
        <p:spPr>
          <a:xfrm>
            <a:off x="14300200" y="28194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기여도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2" name="Google Shape;472;p16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2080.00 - 2080.00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3" name="Google Shape;473;p16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4" name="Google Shape;474;p16"/>
          <p:cNvSpPr txBox="1"/>
          <p:nvPr/>
        </p:nvSpPr>
        <p:spPr>
          <a:xfrm>
            <a:off x="482600" y="2463800"/>
            <a:ext cx="124079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이내로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작성해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5" name="Google Shape;475;p16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업무를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수행하며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얻은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개선점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6" name="Google Shape;476;p16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7" name="Google Shape;477;p16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8" name="Google Shape;478;p16"/>
          <p:cNvSpPr txBox="1"/>
          <p:nvPr/>
        </p:nvSpPr>
        <p:spPr>
          <a:xfrm>
            <a:off x="14160500" y="8763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2080 Kim Mi-ri Portfolio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9" name="Google Shape;479;p16"/>
          <p:cNvSpPr txBox="1"/>
          <p:nvPr/>
        </p:nvSpPr>
        <p:spPr>
          <a:xfrm>
            <a:off x="457200" y="3797300"/>
            <a:ext cx="86360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0" name="Google Shape;480;p16"/>
          <p:cNvSpPr txBox="1"/>
          <p:nvPr/>
        </p:nvSpPr>
        <p:spPr>
          <a:xfrm>
            <a:off x="457200" y="5880100"/>
            <a:ext cx="553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생산성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증가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1" name="Google Shape;481;p16"/>
          <p:cNvSpPr txBox="1"/>
          <p:nvPr/>
        </p:nvSpPr>
        <p:spPr>
          <a:xfrm>
            <a:off x="457200" y="7962900"/>
            <a:ext cx="553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|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2" name="Google Shape;482;p16"/>
          <p:cNvSpPr txBox="1"/>
          <p:nvPr/>
        </p:nvSpPr>
        <p:spPr>
          <a:xfrm>
            <a:off x="609600" y="45212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방법에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3" name="Google Shape;483;p16"/>
          <p:cNvSpPr txBox="1"/>
          <p:nvPr/>
        </p:nvSpPr>
        <p:spPr>
          <a:xfrm>
            <a:off x="5905500" y="45212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결과에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16"/>
          <p:cNvSpPr txBox="1"/>
          <p:nvPr/>
        </p:nvSpPr>
        <p:spPr>
          <a:xfrm>
            <a:off x="609600" y="65913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생산성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증가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방법에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5" name="Google Shape;485;p16"/>
          <p:cNvSpPr txBox="1"/>
          <p:nvPr/>
        </p:nvSpPr>
        <p:spPr>
          <a:xfrm>
            <a:off x="5905500" y="65913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생산성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증가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결과에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6" name="Google Shape;486;p16"/>
          <p:cNvSpPr txBox="1"/>
          <p:nvPr/>
        </p:nvSpPr>
        <p:spPr>
          <a:xfrm>
            <a:off x="609600" y="86741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방법에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7" name="Google Shape;487;p16"/>
          <p:cNvSpPr txBox="1"/>
          <p:nvPr/>
        </p:nvSpPr>
        <p:spPr>
          <a:xfrm>
            <a:off x="5905500" y="8674100"/>
            <a:ext cx="44450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결과에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2" name="Google Shape;49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493" name="Google Shape;49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4" name="Google Shape;49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5" name="Google Shape;495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572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6" name="Google Shape;496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82600" y="3606800"/>
            <a:ext cx="5473700" cy="600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7" name="Google Shape;497;p1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2600" y="3606800"/>
            <a:ext cx="5473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8" name="Google Shape;498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75400" y="3606800"/>
            <a:ext cx="11430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9" name="Google Shape;499;p17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375400" y="6705600"/>
            <a:ext cx="114300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0" name="Google Shape;500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375400" y="4432300"/>
            <a:ext cx="3619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17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7000" y="4432300"/>
            <a:ext cx="3619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2" name="Google Shape;502;p17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4198600" y="4432300"/>
            <a:ext cx="3619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3" name="Google Shape;503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6362700" y="7073900"/>
            <a:ext cx="3619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4" name="Google Shape;504;p17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10274300" y="7073900"/>
            <a:ext cx="36195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5" name="Google Shape;505;p17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14173200" y="7073900"/>
            <a:ext cx="36195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06" name="Google Shape;506;p17"/>
          <p:cNvSpPr txBox="1"/>
          <p:nvPr/>
        </p:nvSpPr>
        <p:spPr>
          <a:xfrm>
            <a:off x="15519400" y="28321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7" name="Google Shape;507;p17"/>
          <p:cNvSpPr txBox="1"/>
          <p:nvPr/>
        </p:nvSpPr>
        <p:spPr>
          <a:xfrm>
            <a:off x="14300200" y="28194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기여도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8" name="Google Shape;508;p17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2080.00 - 2080.00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9" name="Google Shape;509;p17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0" name="Google Shape;510;p17"/>
          <p:cNvSpPr txBox="1"/>
          <p:nvPr/>
        </p:nvSpPr>
        <p:spPr>
          <a:xfrm>
            <a:off x="482600" y="2463800"/>
            <a:ext cx="124079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이내로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작성해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1" name="Google Shape;511;p17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가장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의미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있었던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협업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17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3" name="Google Shape;513;p17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4" name="Google Shape;514;p17"/>
          <p:cNvSpPr txBox="1"/>
          <p:nvPr/>
        </p:nvSpPr>
        <p:spPr>
          <a:xfrm>
            <a:off x="14160500" y="8763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2080 Kim Mi-ri Portfolio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5" name="Google Shape;515;p17"/>
          <p:cNvSpPr txBox="1"/>
          <p:nvPr/>
        </p:nvSpPr>
        <p:spPr>
          <a:xfrm>
            <a:off x="6375400" y="3797300"/>
            <a:ext cx="5537200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</a:t>
            </a:r>
            <a:r>
              <a:rPr b="0" i="0" lang="en-US" sz="2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배경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6" name="Google Shape;516;p17"/>
          <p:cNvSpPr txBox="1"/>
          <p:nvPr/>
        </p:nvSpPr>
        <p:spPr>
          <a:xfrm>
            <a:off x="6934200" y="47498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Keyword 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7" name="Google Shape;517;p17"/>
          <p:cNvSpPr txBox="1"/>
          <p:nvPr/>
        </p:nvSpPr>
        <p:spPr>
          <a:xfrm>
            <a:off x="10845800" y="47498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Keyword 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8" name="Google Shape;518;p17"/>
          <p:cNvSpPr txBox="1"/>
          <p:nvPr/>
        </p:nvSpPr>
        <p:spPr>
          <a:xfrm>
            <a:off x="14744700" y="4749800"/>
            <a:ext cx="25146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3C00"/>
                </a:solidFill>
                <a:latin typeface="Arial"/>
                <a:ea typeface="Arial"/>
                <a:cs typeface="Arial"/>
                <a:sym typeface="Arial"/>
              </a:rPr>
              <a:t>Keyword 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9" name="Google Shape;519;p17"/>
          <p:cNvSpPr txBox="1"/>
          <p:nvPr/>
        </p:nvSpPr>
        <p:spPr>
          <a:xfrm>
            <a:off x="6413500" y="5626100"/>
            <a:ext cx="11455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해당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배경설명을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하는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부분입니다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이내로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작성해주세요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0" name="Google Shape;520;p17"/>
          <p:cNvSpPr txBox="1"/>
          <p:nvPr/>
        </p:nvSpPr>
        <p:spPr>
          <a:xfrm>
            <a:off x="6324600" y="8343900"/>
            <a:ext cx="3670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니즈에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요약해서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1" name="Google Shape;521;p17"/>
          <p:cNvSpPr txBox="1"/>
          <p:nvPr/>
        </p:nvSpPr>
        <p:spPr>
          <a:xfrm>
            <a:off x="6629400" y="7340600"/>
            <a:ext cx="30988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고객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니즈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2" name="Google Shape;522;p17"/>
          <p:cNvSpPr txBox="1"/>
          <p:nvPr/>
        </p:nvSpPr>
        <p:spPr>
          <a:xfrm>
            <a:off x="10528300" y="7340600"/>
            <a:ext cx="30988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기회상황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3" name="Google Shape;523;p17"/>
          <p:cNvSpPr txBox="1"/>
          <p:nvPr/>
        </p:nvSpPr>
        <p:spPr>
          <a:xfrm>
            <a:off x="14439900" y="7340600"/>
            <a:ext cx="30988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비교대상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4" name="Google Shape;524;p17"/>
          <p:cNvSpPr txBox="1"/>
          <p:nvPr/>
        </p:nvSpPr>
        <p:spPr>
          <a:xfrm>
            <a:off x="10248900" y="8343900"/>
            <a:ext cx="3670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문제상황에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요약해서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5" name="Google Shape;525;p17"/>
          <p:cNvSpPr txBox="1"/>
          <p:nvPr/>
        </p:nvSpPr>
        <p:spPr>
          <a:xfrm>
            <a:off x="14147800" y="8343900"/>
            <a:ext cx="3670300" cy="10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이곳에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비교대상에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두줄로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요약해서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0" name="Google Shape;53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2082800"/>
            <a:ext cx="18681700" cy="8382000"/>
          </a:xfrm>
          <a:prstGeom prst="rect">
            <a:avLst/>
          </a:prstGeom>
          <a:noFill/>
          <a:ln>
            <a:noFill/>
          </a:ln>
          <a:effectLst>
            <a:outerShdw blurRad="874437">
              <a:srgbClr val="000000">
                <a:alpha val="14901"/>
              </a:srgbClr>
            </a:outerShdw>
          </a:effectLst>
        </p:spPr>
      </p:pic>
      <p:pic>
        <p:nvPicPr>
          <p:cNvPr id="531" name="Google Shape;53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82600" y="9817100"/>
            <a:ext cx="173355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3" name="Google Shape;533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32100" y="660400"/>
            <a:ext cx="762000" cy="76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4" name="Google Shape;534;p1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9900" y="3606800"/>
            <a:ext cx="54737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5" name="Google Shape;535;p1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6413500" y="3606800"/>
            <a:ext cx="54737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6" name="Google Shape;536;p18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331700" y="3606800"/>
            <a:ext cx="5473700" cy="346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7" name="Google Shape;537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469900" y="3606800"/>
            <a:ext cx="5473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8" name="Google Shape;538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6413500" y="3606800"/>
            <a:ext cx="5473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9" name="Google Shape;539;p18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331700" y="3606800"/>
            <a:ext cx="5473700" cy="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0" name="Google Shape;540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2600" y="7493000"/>
            <a:ext cx="54483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426200" y="7493000"/>
            <a:ext cx="5448300" cy="952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18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2331700" y="7493000"/>
            <a:ext cx="5448300" cy="952500"/>
          </a:xfrm>
          <a:prstGeom prst="rect">
            <a:avLst/>
          </a:prstGeom>
          <a:noFill/>
          <a:ln>
            <a:noFill/>
          </a:ln>
        </p:spPr>
      </p:pic>
      <p:sp>
        <p:nvSpPr>
          <p:cNvPr id="543" name="Google Shape;543;p18"/>
          <p:cNvSpPr txBox="1"/>
          <p:nvPr/>
        </p:nvSpPr>
        <p:spPr>
          <a:xfrm>
            <a:off x="15519400" y="28321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100%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18"/>
          <p:cNvSpPr txBox="1"/>
          <p:nvPr/>
        </p:nvSpPr>
        <p:spPr>
          <a:xfrm>
            <a:off x="14300200" y="2819400"/>
            <a:ext cx="11430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기여도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5" name="Google Shape;545;p18"/>
          <p:cNvSpPr txBox="1"/>
          <p:nvPr/>
        </p:nvSpPr>
        <p:spPr>
          <a:xfrm>
            <a:off x="15519400" y="2489200"/>
            <a:ext cx="2324100" cy="3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2080.00 - 2080.00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6" name="Google Shape;546;p18"/>
          <p:cNvSpPr txBox="1"/>
          <p:nvPr/>
        </p:nvSpPr>
        <p:spPr>
          <a:xfrm>
            <a:off x="14300200" y="2476500"/>
            <a:ext cx="1130300" cy="330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|  </a:t>
            </a:r>
            <a:r>
              <a:rPr b="0" i="0" lang="en-US" sz="19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제작기간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7" name="Google Shape;547;p18"/>
          <p:cNvSpPr txBox="1"/>
          <p:nvPr/>
        </p:nvSpPr>
        <p:spPr>
          <a:xfrm>
            <a:off x="482600" y="2463800"/>
            <a:ext cx="124079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4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프로젝트에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대한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두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줄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이내로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간략하게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작성해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주세요</a:t>
            </a:r>
            <a:r>
              <a:rPr b="0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8" name="Google Shape;548;p18"/>
          <p:cNvSpPr txBox="1"/>
          <p:nvPr/>
        </p:nvSpPr>
        <p:spPr>
          <a:xfrm>
            <a:off x="14160500" y="876300"/>
            <a:ext cx="32512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2080 Kim Mi-ri Portfolio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9" name="Google Shape;549;p18"/>
          <p:cNvSpPr txBox="1"/>
          <p:nvPr/>
        </p:nvSpPr>
        <p:spPr>
          <a:xfrm>
            <a:off x="3822700" y="762000"/>
            <a:ext cx="7632700" cy="6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500"/>
              <a:buFont typeface="Arial"/>
              <a:buNone/>
            </a:pP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가장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의미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있었던</a:t>
            </a:r>
            <a:r>
              <a:rPr b="0" i="0" lang="en-US" sz="35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35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협업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0" name="Google Shape;550;p18"/>
          <p:cNvSpPr txBox="1"/>
          <p:nvPr/>
        </p:nvSpPr>
        <p:spPr>
          <a:xfrm>
            <a:off x="2857500" y="863600"/>
            <a:ext cx="698500" cy="39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</a:pPr>
            <a:r>
              <a:rPr b="0" i="0" lang="en-US" sz="22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05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1" name="Google Shape;551;p18"/>
          <p:cNvSpPr txBox="1"/>
          <p:nvPr/>
        </p:nvSpPr>
        <p:spPr>
          <a:xfrm>
            <a:off x="876300" y="711200"/>
            <a:ext cx="20574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b="0" i="0" lang="en-US" sz="4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Result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2" name="Google Shape;552;p18"/>
          <p:cNvSpPr txBox="1"/>
          <p:nvPr/>
        </p:nvSpPr>
        <p:spPr>
          <a:xfrm>
            <a:off x="698500" y="7759700"/>
            <a:ext cx="50165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3" name="Google Shape;553;p18"/>
          <p:cNvSpPr txBox="1"/>
          <p:nvPr/>
        </p:nvSpPr>
        <p:spPr>
          <a:xfrm>
            <a:off x="482600" y="8648700"/>
            <a:ext cx="5511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문제해결에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위에는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이미지를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넣어주세요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4" name="Google Shape;554;p18"/>
          <p:cNvSpPr txBox="1"/>
          <p:nvPr/>
        </p:nvSpPr>
        <p:spPr>
          <a:xfrm>
            <a:off x="6629400" y="7759700"/>
            <a:ext cx="50419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생산성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증가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5" name="Google Shape;555;p18"/>
          <p:cNvSpPr txBox="1"/>
          <p:nvPr/>
        </p:nvSpPr>
        <p:spPr>
          <a:xfrm>
            <a:off x="6413500" y="8648700"/>
            <a:ext cx="5511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생산성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증가에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위에는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이미지를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넣어주세요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6" name="Google Shape;556;p18"/>
          <p:cNvSpPr txBox="1"/>
          <p:nvPr/>
        </p:nvSpPr>
        <p:spPr>
          <a:xfrm>
            <a:off x="12509500" y="7759700"/>
            <a:ext cx="51054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액션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7" name="Google Shape;557;p18"/>
          <p:cNvSpPr txBox="1"/>
          <p:nvPr/>
        </p:nvSpPr>
        <p:spPr>
          <a:xfrm>
            <a:off x="12319000" y="8648700"/>
            <a:ext cx="5511800" cy="7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의사소통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협상에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간단한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설명을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적어주세요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6199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●"/>
            </a:pP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위에는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관련된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이미지를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넣어주세요</a:t>
            </a:r>
            <a:r>
              <a:rPr b="0" i="0" lang="en-US" sz="2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EEEEE"/>
        </a:solidFill>
      </p:bgPr>
    </p:bg>
    <p:spTree>
      <p:nvGrpSpPr>
        <p:cNvPr id="561" name="Shape 5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Google Shape;562;p19"/>
          <p:cNvSpPr txBox="1"/>
          <p:nvPr/>
        </p:nvSpPr>
        <p:spPr>
          <a:xfrm>
            <a:off x="317500" y="2603500"/>
            <a:ext cx="17653000" cy="35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0"/>
              <a:buFont typeface="Arial"/>
              <a:buNone/>
            </a:pPr>
            <a:r>
              <a:rPr b="0" i="0" lang="en-US" sz="20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63" name="Google Shape;56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203200" y="5143500"/>
            <a:ext cx="18681700" cy="5295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4" name="Google Shape;56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82600" y="469900"/>
            <a:ext cx="17335500" cy="1143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5" name="Google Shape;565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60700" y="9296400"/>
            <a:ext cx="12166600" cy="533400"/>
          </a:xfrm>
          <a:prstGeom prst="rect">
            <a:avLst/>
          </a:prstGeom>
          <a:noFill/>
          <a:ln>
            <a:noFill/>
          </a:ln>
        </p:spPr>
      </p:pic>
      <p:sp>
        <p:nvSpPr>
          <p:cNvPr id="566" name="Google Shape;566;p19"/>
          <p:cNvSpPr txBox="1"/>
          <p:nvPr/>
        </p:nvSpPr>
        <p:spPr>
          <a:xfrm>
            <a:off x="889000" y="876300"/>
            <a:ext cx="16510000" cy="35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0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2080 Kim Mi-ri Portfolio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7" name="Google Shape;567;p19"/>
          <p:cNvSpPr txBox="1"/>
          <p:nvPr/>
        </p:nvSpPr>
        <p:spPr>
          <a:xfrm>
            <a:off x="3289300" y="9385300"/>
            <a:ext cx="11709400" cy="38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M.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010-1234-5678      |      </a:t>
            </a: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E.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mirikim@miricompany.com      |      </a:t>
            </a:r>
            <a:r>
              <a:rPr b="1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W.</a:t>
            </a:r>
            <a:r>
              <a:rPr b="0" i="0" lang="en-US" sz="21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www.kimmiri-site.co.kr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8" name="Google Shape;568;p19"/>
          <p:cNvSpPr txBox="1"/>
          <p:nvPr/>
        </p:nvSpPr>
        <p:spPr>
          <a:xfrm>
            <a:off x="1981200" y="6819900"/>
            <a:ext cx="14338300" cy="4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끝까지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검토해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주셔서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0" i="0" lang="en-US" sz="25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감사합니다</a:t>
            </a:r>
            <a:r>
              <a:rPr b="0" i="0" lang="en-US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9" name="Google Shape;569;p19"/>
          <p:cNvSpPr txBox="1"/>
          <p:nvPr/>
        </p:nvSpPr>
        <p:spPr>
          <a:xfrm>
            <a:off x="4178300" y="5232400"/>
            <a:ext cx="9918700" cy="16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996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500"/>
              <a:buFont typeface="Arial"/>
              <a:buNone/>
            </a:pPr>
            <a:r>
              <a:rPr b="0" i="0" lang="en-US" sz="9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Kim Mi-ri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한컴오피스">
  <a:themeElements>
    <a:clrScheme name="한컴오피스">
      <a:dk1>
        <a:srgbClr val="000000"/>
      </a:dk1>
      <a:lt1>
        <a:srgbClr val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